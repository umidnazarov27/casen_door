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f739f511d86418c" /><Relationship Type="http://schemas.openxmlformats.org/officeDocument/2006/relationships/extended-properties" Target="/docProps/app.xml" Id="R5fac32eeca7e4498" /><Relationship Type="http://schemas.openxmlformats.org/officeDocument/2006/relationships/officeDocument" Target="/ppt/presentation.xml" Id="Reda9e708b28d4ca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025979c84544979"/>
  </p:sldMasterIdLst>
  <p:notesMasterIdLst>
    <p:notesMasterId xmlns:r="http://schemas.openxmlformats.org/officeDocument/2006/relationships" r:id="Rca9ab1a1b2774e3c"/>
  </p:notesMasterIdLst>
  <p:sldIdLst>
    <p:sldId xmlns:r="http://schemas.openxmlformats.org/officeDocument/2006/relationships" id="256" r:id="Ra5aabc4663b84e35"/>
    <p:sldId xmlns:r="http://schemas.openxmlformats.org/officeDocument/2006/relationships" id="257" r:id="R0a2337450d4941a1"/>
    <p:sldId xmlns:r="http://schemas.openxmlformats.org/officeDocument/2006/relationships" id="258" r:id="R2f24a397fc8242f0"/>
    <p:sldId xmlns:r="http://schemas.openxmlformats.org/officeDocument/2006/relationships" id="259" r:id="R79a95261009c4690"/>
    <p:sldId xmlns:r="http://schemas.openxmlformats.org/officeDocument/2006/relationships" id="260" r:id="R07f8726b12f44969"/>
    <p:sldId xmlns:r="http://schemas.openxmlformats.org/officeDocument/2006/relationships" id="261" r:id="R5c53fc5559614897"/>
    <p:sldId xmlns:r="http://schemas.openxmlformats.org/officeDocument/2006/relationships" id="262" r:id="R4a186cca72714729"/>
    <p:sldId xmlns:r="http://schemas.openxmlformats.org/officeDocument/2006/relationships" id="263" r:id="Rb22ade44b1744764"/>
    <p:sldId xmlns:r="http://schemas.openxmlformats.org/officeDocument/2006/relationships" id="264" r:id="Rd69590dd14e84748"/>
    <p:sldId xmlns:r="http://schemas.openxmlformats.org/officeDocument/2006/relationships" id="265" r:id="R37b8ea6c356e4fb9"/>
    <p:sldId xmlns:r="http://schemas.openxmlformats.org/officeDocument/2006/relationships" id="266" r:id="R39ab81629c394a9e"/>
    <p:sldId xmlns:r="http://schemas.openxmlformats.org/officeDocument/2006/relationships" id="267" r:id="R415f277472c44f77"/>
    <p:sldId xmlns:r="http://schemas.openxmlformats.org/officeDocument/2006/relationships" id="268" r:id="R5819debb2a9b4ce0"/>
    <p:sldId xmlns:r="http://schemas.openxmlformats.org/officeDocument/2006/relationships" id="269" r:id="R5277f8fadc4146a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46b307cdec248cc" /><Relationship Type="http://schemas.openxmlformats.org/officeDocument/2006/relationships/slideMaster" Target="/ppt/slideMasters/slideMaster1.xml" Id="Rc025979c84544979" /><Relationship Type="http://schemas.openxmlformats.org/officeDocument/2006/relationships/notesMaster" Target="/ppt/notesMasters/notesMaster1.xml" Id="Rca9ab1a1b2774e3c" /><Relationship Type="http://schemas.openxmlformats.org/officeDocument/2006/relationships/presProps" Target="/ppt/presProps.xml" Id="R355b5ca30fb449ad" /><Relationship Type="http://schemas.openxmlformats.org/officeDocument/2006/relationships/tableStyles" Target="/ppt/tableStyles.xml" Id="Ra1f6d3bcf577419c" /><Relationship Type="http://schemas.openxmlformats.org/officeDocument/2006/relationships/slide" Target="/ppt/slides/slide1.xml" Id="Ra5aabc4663b84e35" /><Relationship Type="http://schemas.openxmlformats.org/officeDocument/2006/relationships/slide" Target="/ppt/slides/slide2.xml" Id="R0a2337450d4941a1" /><Relationship Type="http://schemas.openxmlformats.org/officeDocument/2006/relationships/slide" Target="/ppt/slides/slide3.xml" Id="R2f24a397fc8242f0" /><Relationship Type="http://schemas.openxmlformats.org/officeDocument/2006/relationships/slide" Target="/ppt/slides/slide4.xml" Id="R79a95261009c4690" /><Relationship Type="http://schemas.openxmlformats.org/officeDocument/2006/relationships/slide" Target="/ppt/slides/slide5.xml" Id="R07f8726b12f44969" /><Relationship Type="http://schemas.openxmlformats.org/officeDocument/2006/relationships/slide" Target="/ppt/slides/slide6.xml" Id="R5c53fc5559614897" /><Relationship Type="http://schemas.openxmlformats.org/officeDocument/2006/relationships/slide" Target="/ppt/slides/slide7.xml" Id="R4a186cca72714729" /><Relationship Type="http://schemas.openxmlformats.org/officeDocument/2006/relationships/slide" Target="/ppt/slides/slide8.xml" Id="Rb22ade44b1744764" /><Relationship Type="http://schemas.openxmlformats.org/officeDocument/2006/relationships/slide" Target="/ppt/slides/slide9.xml" Id="Rd69590dd14e84748" /><Relationship Type="http://schemas.openxmlformats.org/officeDocument/2006/relationships/slide" Target="/ppt/slides/slide10.xml" Id="R37b8ea6c356e4fb9" /><Relationship Type="http://schemas.openxmlformats.org/officeDocument/2006/relationships/slide" Target="/ppt/slides/slide11.xml" Id="R39ab81629c394a9e" /><Relationship Type="http://schemas.openxmlformats.org/officeDocument/2006/relationships/slide" Target="/ppt/slides/slide12.xml" Id="R415f277472c44f77" /><Relationship Type="http://schemas.openxmlformats.org/officeDocument/2006/relationships/slide" Target="/ppt/slides/slide13.xml" Id="R5819debb2a9b4ce0" /><Relationship Type="http://schemas.openxmlformats.org/officeDocument/2006/relationships/slide" Target="/ppt/slides/slide14.xml" Id="R5277f8fadc4146a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76d683838cf43a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14eaff8d6dd417f" /><Relationship Type="http://schemas.openxmlformats.org/officeDocument/2006/relationships/notesMaster" Target="/ppt/notesMasters/notesMaster1.xml" Id="R6314161186ab4f7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7bc4dedd1884892" /><Relationship Type="http://schemas.openxmlformats.org/officeDocument/2006/relationships/notesMaster" Target="/ppt/notesMasters/notesMaster1.xml" Id="R9db9d6014ed34e5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2d5b39b70474433" /><Relationship Type="http://schemas.openxmlformats.org/officeDocument/2006/relationships/notesMaster" Target="/ppt/notesMasters/notesMaster1.xml" Id="R8f31912e5470439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7ea35b27f83469d" /><Relationship Type="http://schemas.openxmlformats.org/officeDocument/2006/relationships/notesMaster" Target="/ppt/notesMasters/notesMaster1.xml" Id="R17998c858c3c4d2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31bcd72c987420e" /><Relationship Type="http://schemas.openxmlformats.org/officeDocument/2006/relationships/notesMaster" Target="/ppt/notesMasters/notesMaster1.xml" Id="R2f1844f8dcc9416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82b7c805e83480b" /><Relationship Type="http://schemas.openxmlformats.org/officeDocument/2006/relationships/notesMaster" Target="/ppt/notesMasters/notesMaster1.xml" Id="R2766719addb1404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cd26f75aca2443f" /><Relationship Type="http://schemas.openxmlformats.org/officeDocument/2006/relationships/notesMaster" Target="/ppt/notesMasters/notesMaster1.xml" Id="R760284881e1248f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af4927dc2f54ffc" /><Relationship Type="http://schemas.openxmlformats.org/officeDocument/2006/relationships/notesMaster" Target="/ppt/notesMasters/notesMaster1.xml" Id="R82f3c6c78b774ad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40953d960b641c5" /><Relationship Type="http://schemas.openxmlformats.org/officeDocument/2006/relationships/notesMaster" Target="/ppt/notesMasters/notesMaster1.xml" Id="R0e476e229eba4e5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58a4f7e4c5d4482" /><Relationship Type="http://schemas.openxmlformats.org/officeDocument/2006/relationships/notesMaster" Target="/ppt/notesMasters/notesMaster1.xml" Id="R41d056cf5b43434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eb05d0578184cd4" /><Relationship Type="http://schemas.openxmlformats.org/officeDocument/2006/relationships/notesMaster" Target="/ppt/notesMasters/notesMaster1.xml" Id="R01bd08e56b91457e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e53a2face9124284" /><Relationship Type="http://schemas.openxmlformats.org/officeDocument/2006/relationships/notesMaster" Target="/ppt/notesMasters/notesMaster1.xml" Id="Rbd07a64452b74e57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86b067a1beb145f0" /><Relationship Type="http://schemas.openxmlformats.org/officeDocument/2006/relationships/notesMaster" Target="/ppt/notesMasters/notesMaster1.xml" Id="R93e6e41e45124d4e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877d101e614842de" /><Relationship Type="http://schemas.openxmlformats.org/officeDocument/2006/relationships/notesMaster" Target="/ppt/notesMasters/notesMaster1.xml" Id="Rf03421ef03e94c6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Meeting source: https://notes.granola.ai/t/4ade12de-b629-402c-a375-4e67a93b7442-009c2hma</a:t>
            </a:r>
          </a:p>
          <a:p xmlns:a="http://schemas.openxmlformats.org/drawingml/2006/main">
            <a:r>
              <a:t>Reference page: https://casen-doors.com/products/luxury-exterior-doors-casen-series-2</a:t>
            </a:r>
          </a:p>
          <a:p xmlns:a="http://schemas.openxmlformats.org/drawingml/2006/main">
            <a:r>
              <a:t>Door-page screenshots show layout references. Kitchen copy, claims and technical specifications require William's approval. The exact page used during the call has not been independently confirmed.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Meeting source: https://notes.granola.ai/t/4ade12de-b629-402c-a375-4e67a93b7442-009c2hma</a:t>
            </a:r>
          </a:p>
          <a:p xmlns:a="http://schemas.openxmlformats.org/drawingml/2006/main">
            <a:r>
              <a:t>Reference page: https://casen-doors.com/products/luxury-exterior-doors-casen-series-2</a:t>
            </a:r>
          </a:p>
          <a:p xmlns:a="http://schemas.openxmlformats.org/drawingml/2006/main">
            <a:r>
              <a:t>Door-page screenshots show layout references. Kitchen copy, claims and technical specifications require William's approval. The exact page used during the call has not been independently confirmed.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Meeting source: https://notes.granola.ai/t/4ade12de-b629-402c-a375-4e67a93b7442-009c2hma</a:t>
            </a:r>
          </a:p>
          <a:p xmlns:a="http://schemas.openxmlformats.org/drawingml/2006/main">
            <a:r>
              <a:t>Reference page: https://casen-doors.com/products/luxury-exterior-doors-casen-series-2</a:t>
            </a:r>
          </a:p>
          <a:p xmlns:a="http://schemas.openxmlformats.org/drawingml/2006/main">
            <a:r>
              <a:t>Door-page screenshots show layout references. Kitchen copy, claims and technical specifications require William's approval. The exact page used during the call has not been independently confirmed.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Meeting source: https://notes.granola.ai/t/4ade12de-b629-402c-a375-4e67a93b7442-009c2hma</a:t>
            </a:r>
          </a:p>
          <a:p xmlns:a="http://schemas.openxmlformats.org/drawingml/2006/main">
            <a:r>
              <a:t>Reference page: https://casen-doors.com/products/luxury-exterior-doors-casen-series-2</a:t>
            </a:r>
          </a:p>
          <a:p xmlns:a="http://schemas.openxmlformats.org/drawingml/2006/main">
            <a:r>
              <a:t>Door-page screenshots show layout references. Kitchen copy, claims and technical specifications require William's approval. The exact page used during the call has not been independently confirmed.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Meeting source: https://notes.granola.ai/t/4ade12de-b629-402c-a375-4e67a93b7442-009c2hma</a:t>
            </a:r>
          </a:p>
          <a:p xmlns:a="http://schemas.openxmlformats.org/drawingml/2006/main">
            <a:r>
              <a:t>Reference page: https://casen-doors.com/products/luxury-exterior-doors-casen-series-2</a:t>
            </a:r>
          </a:p>
          <a:p xmlns:a="http://schemas.openxmlformats.org/drawingml/2006/main">
            <a:r>
              <a:t>Door-page screenshots show layout references. Kitchen copy, claims and technical specifications require William's approval. The exact page used during the call has not been independently confirmed.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Meeting source: https://notes.granola.ai/t/4ade12de-b629-402c-a375-4e67a93b7442-009c2hma</a:t>
            </a:r>
          </a:p>
          <a:p xmlns:a="http://schemas.openxmlformats.org/drawingml/2006/main">
            <a:r>
              <a:t>Reference page: https://casen-doors.com/products/luxury-exterior-doors-casen-series-2</a:t>
            </a:r>
          </a:p>
          <a:p xmlns:a="http://schemas.openxmlformats.org/drawingml/2006/main">
            <a:r>
              <a:t>Door-page screenshots show layout references. Kitchen copy, claims and technical specifications require William's approval. The exact page used during the call has not been independently confirmed.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Meeting source: https://notes.granola.ai/t/4ade12de-b629-402c-a375-4e67a93b7442-009c2hma</a:t>
            </a:r>
          </a:p>
          <a:p xmlns:a="http://schemas.openxmlformats.org/drawingml/2006/main">
            <a:r>
              <a:t>Reference page: https://casen-doors.com/products/luxury-exterior-doors-casen-series-2</a:t>
            </a:r>
          </a:p>
          <a:p xmlns:a="http://schemas.openxmlformats.org/drawingml/2006/main">
            <a:r>
              <a:t>Door-page screenshots show layout references. Kitchen copy, claims and technical specifications require William's approval. The exact page used during the call has not been independently confirmed.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Meeting source: https://notes.granola.ai/t/4ade12de-b629-402c-a375-4e67a93b7442-009c2hma</a:t>
            </a:r>
          </a:p>
          <a:p xmlns:a="http://schemas.openxmlformats.org/drawingml/2006/main">
            <a:r>
              <a:t>Reference page: https://casen-doors.com/products/luxury-exterior-doors-casen-series-2</a:t>
            </a:r>
          </a:p>
          <a:p xmlns:a="http://schemas.openxmlformats.org/drawingml/2006/main">
            <a:r>
              <a:t>Door-page screenshots show layout references. Kitchen copy, claims and technical specifications require William's approval. The exact page used during the call has not been independently confirmed.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Meeting source: https://notes.granola.ai/t/4ade12de-b629-402c-a375-4e67a93b7442-009c2hma</a:t>
            </a:r>
          </a:p>
          <a:p xmlns:a="http://schemas.openxmlformats.org/drawingml/2006/main">
            <a:r>
              <a:t>Reference page: https://casen-doors.com/products/luxury-exterior-doors-casen-series-2</a:t>
            </a:r>
          </a:p>
          <a:p xmlns:a="http://schemas.openxmlformats.org/drawingml/2006/main">
            <a:r>
              <a:t>Door-page screenshots show layout references. Kitchen copy, claims and technical specifications require William's approval. The exact page used during the call has not been independently confirmed.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Meeting source: https://notes.granola.ai/t/4ade12de-b629-402c-a375-4e67a93b7442-009c2hma</a:t>
            </a:r>
          </a:p>
          <a:p xmlns:a="http://schemas.openxmlformats.org/drawingml/2006/main">
            <a:r>
              <a:t>Reference page: https://casen-doors.com/products/luxury-exterior-doors-casen-series-2</a:t>
            </a:r>
          </a:p>
          <a:p xmlns:a="http://schemas.openxmlformats.org/drawingml/2006/main">
            <a:r>
              <a:t>Door-page screenshots show layout references. Kitchen copy, claims and technical specifications require William's approval. The exact page used during the call has not been independently confirmed.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Meeting source: https://notes.granola.ai/t/4ade12de-b629-402c-a375-4e67a93b7442-009c2hma</a:t>
            </a:r>
          </a:p>
          <a:p xmlns:a="http://schemas.openxmlformats.org/drawingml/2006/main">
            <a:r>
              <a:t>Reference page: https://casen-doors.com/products/luxury-exterior-doors-casen-series-2</a:t>
            </a:r>
          </a:p>
          <a:p xmlns:a="http://schemas.openxmlformats.org/drawingml/2006/main">
            <a:r>
              <a:t>Door-page screenshots show layout references. Kitchen copy, claims and technical specifications require William's approval. The exact page used during the call has not been independently confirmed.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Meeting source: https://notes.granola.ai/t/4ade12de-b629-402c-a375-4e67a93b7442-009c2hma</a:t>
            </a:r>
          </a:p>
          <a:p xmlns:a="http://schemas.openxmlformats.org/drawingml/2006/main">
            <a:r>
              <a:t>Reference page: https://casen-doors.com/products/luxury-exterior-doors-casen-series-2</a:t>
            </a:r>
          </a:p>
          <a:p xmlns:a="http://schemas.openxmlformats.org/drawingml/2006/main">
            <a:r>
              <a:t>Door-page screenshots show layout references. Kitchen copy, claims and technical specifications require William's approval. The exact page used during the call has not been independently confirmed.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Meeting source: https://notes.granola.ai/t/4ade12de-b629-402c-a375-4e67a93b7442-009c2hma</a:t>
            </a:r>
          </a:p>
          <a:p xmlns:a="http://schemas.openxmlformats.org/drawingml/2006/main">
            <a:r>
              <a:t>Reference page: https://casen-doors.com/products/luxury-exterior-doors-casen-series-2</a:t>
            </a:r>
          </a:p>
          <a:p xmlns:a="http://schemas.openxmlformats.org/drawingml/2006/main">
            <a:r>
              <a:t>Door-page screenshots show layout references. Kitchen copy, claims and technical specifications require William's approval. The exact page used during the call has not been independently confirmed.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Meeting source: https://notes.granola.ai/t/4ade12de-b629-402c-a375-4e67a93b7442-009c2hma</a:t>
            </a:r>
          </a:p>
          <a:p xmlns:a="http://schemas.openxmlformats.org/drawingml/2006/main">
            <a:r>
              <a:t>Reference page: https://casen-doors.com/products/luxury-exterior-doors-casen-series-2</a:t>
            </a:r>
          </a:p>
          <a:p xmlns:a="http://schemas.openxmlformats.org/drawingml/2006/main">
            <a:r>
              <a:t>Door-page screenshots show layout references. Kitchen copy, claims and technical specifications require William's approval. The exact page used during the call has not been independently confirmed.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66d9e23e7664730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aaed67e35d94fec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fdb4425190f49d0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00df3ea73d4426c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bc2e4d3aa7c46c0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e882d2b8b96439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9ABFF43-9849-4FC3-9177-74A5F7C1CB1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E6E04032-85AB-4EC9-A7C5-026ADA426E64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DD9B3B16-E7CC-459E-BC3B-7129862C142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8B35D06-B8A9-4410-94E6-DA47B285420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6F9809E4-C59D-4B41-9543-7E5DAB6AC70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C8C4877D-7A84-4429-AB3C-7D77E2035B7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09B5E131-9245-4FC2-A3A8-ECD8FD60CE4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861BC0AB-20F7-48F1-AA27-094700CA1482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28CCB22-898B-4A21-BBA5-9C100578829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8ED35BA9-C924-47FE-9D18-B9845DCEB03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b79ab313d884b81" /><Relationship Type="http://schemas.openxmlformats.org/officeDocument/2006/relationships/slideLayout" Target="/ppt/slideLayouts/slideLayout1.xml" Id="R43a31ce03952453d" /><Relationship Type="http://schemas.openxmlformats.org/officeDocument/2006/relationships/slideLayout" Target="/ppt/slideLayouts/slideLayout2.xml" Id="R20a848d48b45406e" /><Relationship Type="http://schemas.openxmlformats.org/officeDocument/2006/relationships/slideLayout" Target="/ppt/slideLayouts/slideLayout3.xml" Id="Rc7ea9294e0b94e71" /><Relationship Type="http://schemas.openxmlformats.org/officeDocument/2006/relationships/slideLayout" Target="/ppt/slideLayouts/slideLayout4.xml" Id="R07773cf7897e4b8e" /><Relationship Type="http://schemas.openxmlformats.org/officeDocument/2006/relationships/slideLayout" Target="/ppt/slideLayouts/slideLayout5.xml" Id="R0f7281f3215a498b" /><Relationship Type="http://schemas.openxmlformats.org/officeDocument/2006/relationships/slideLayout" Target="/ppt/slideLayouts/slideLayout6.xml" Id="R3c972fe9362c4cc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3a31ce03952453d"/>
    <p:sldLayoutId xmlns:r="http://schemas.openxmlformats.org/officeDocument/2006/relationships" id="2147483650" r:id="R20a848d48b45406e"/>
    <p:sldLayoutId xmlns:r="http://schemas.openxmlformats.org/officeDocument/2006/relationships" id="2147483651" r:id="Rc7ea9294e0b94e71"/>
    <p:sldLayoutId xmlns:r="http://schemas.openxmlformats.org/officeDocument/2006/relationships" id="2147483652" r:id="R07773cf7897e4b8e"/>
    <p:sldLayoutId xmlns:r="http://schemas.openxmlformats.org/officeDocument/2006/relationships" id="2147483653" r:id="R0f7281f3215a498b"/>
    <p:sldLayoutId xmlns:r="http://schemas.openxmlformats.org/officeDocument/2006/relationships" id="2147483654" r:id="R3c972fe9362c4cc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e2fa511140f41e2" /><Relationship Type="http://schemas.openxmlformats.org/officeDocument/2006/relationships/image" Target="/ppt/media/image.png" Id="R6ca877b47f1f41b8" /><Relationship Type="http://schemas.openxmlformats.org/officeDocument/2006/relationships/notesSlide" Target="/ppt/notesSlides/notesSlide1.xml" Id="R510582f043564a0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541722d8efa4924" /><Relationship Type="http://schemas.openxmlformats.org/officeDocument/2006/relationships/notesSlide" Target="/ppt/notesSlides/notesSlide2.xml" Id="Ra717b2c3120141d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7a71aacabac4b77" /><Relationship Type="http://schemas.openxmlformats.org/officeDocument/2006/relationships/image" Target="/ppt/media/image2.png" Id="R33039887b4934e5d" /><Relationship Type="http://schemas.openxmlformats.org/officeDocument/2006/relationships/notesSlide" Target="/ppt/notesSlides/notesSlide3.xml" Id="R1c2e64bea8094aa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67519a8950f4024" /><Relationship Type="http://schemas.openxmlformats.org/officeDocument/2006/relationships/image" Target="/ppt/media/image3.png" Id="Rfe626e21a70d4263" /><Relationship Type="http://schemas.openxmlformats.org/officeDocument/2006/relationships/notesSlide" Target="/ppt/notesSlides/notesSlide4.xml" Id="R1430c405e4eb4de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10452c32d374c85" /><Relationship Type="http://schemas.openxmlformats.org/officeDocument/2006/relationships/image" Target="/ppt/media/image4.png" Id="Rfc6364e278a74f56" /><Relationship Type="http://schemas.openxmlformats.org/officeDocument/2006/relationships/notesSlide" Target="/ppt/notesSlides/notesSlide5.xml" Id="Re270401121504f1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ec67fbb2dfd4a1f" /><Relationship Type="http://schemas.openxmlformats.org/officeDocument/2006/relationships/image" Target="/ppt/media/image5.png" Id="R9f2eda684c44481e" /><Relationship Type="http://schemas.openxmlformats.org/officeDocument/2006/relationships/notesSlide" Target="/ppt/notesSlides/notesSlide6.xml" Id="R4aae90db0036438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68e2f001e0b4906" /><Relationship Type="http://schemas.openxmlformats.org/officeDocument/2006/relationships/image" Target="/ppt/media/image6.png" Id="Rbc0d173b9c5f4b62" /><Relationship Type="http://schemas.openxmlformats.org/officeDocument/2006/relationships/notesSlide" Target="/ppt/notesSlides/notesSlide7.xml" Id="Rb7eda2729d32485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3643a74a7164786" /><Relationship Type="http://schemas.openxmlformats.org/officeDocument/2006/relationships/notesSlide" Target="/ppt/notesSlides/notesSlide8.xml" Id="R7511ba7972b9449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caededa9dc0443d" /><Relationship Type="http://schemas.openxmlformats.org/officeDocument/2006/relationships/image" Target="/ppt/media/image7.png" Id="Re4c1df0454624dbc" /><Relationship Type="http://schemas.openxmlformats.org/officeDocument/2006/relationships/notesSlide" Target="/ppt/notesSlides/notesSlide9.xml" Id="Rc4a7ed234abb4fe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b536b79ba8e4b18" /><Relationship Type="http://schemas.openxmlformats.org/officeDocument/2006/relationships/image" Target="/ppt/media/image8.png" Id="R7d0f94c61be445ed" /><Relationship Type="http://schemas.openxmlformats.org/officeDocument/2006/relationships/notesSlide" Target="/ppt/notesSlides/notesSlide10.xml" Id="R21a02d50f3b0460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4a04810c4f54efd" /><Relationship Type="http://schemas.openxmlformats.org/officeDocument/2006/relationships/image" Target="/ppt/media/image9.png" Id="Ra6de88545a2b4133" /><Relationship Type="http://schemas.openxmlformats.org/officeDocument/2006/relationships/notesSlide" Target="/ppt/notesSlides/notesSlide11.xml" Id="Ra80a386f6b3241fd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c1c172e74be4307" /><Relationship Type="http://schemas.openxmlformats.org/officeDocument/2006/relationships/notesSlide" Target="/ppt/notesSlides/notesSlide12.xml" Id="R251026c7b9454737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5a03e1ef04346e7" /><Relationship Type="http://schemas.openxmlformats.org/officeDocument/2006/relationships/notesSlide" Target="/ppt/notesSlides/notesSlide13.xml" Id="R0fdae884120c4513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0d66f1218c848a4" /><Relationship Type="http://schemas.openxmlformats.org/officeDocument/2006/relationships/notesSlide" Target="/ppt/notesSlides/notesSlide14.xml" Id="Ra5b4a5dc6b4d407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A3ED82-D9DD-420B-9D3E-A254FB138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61950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181818"/>
                </a:solidFill>
                <a:latin typeface="Arial"/>
                <a:ea typeface="Arial"/>
                <a:cs typeface="Arial"/>
              </a:defRPr>
            </a:defPPr>
            <a:lvl1pPr>
              <a:defRPr sz="3225" b="1">
                <a:solidFill>
                  <a:srgbClr val="181818"/>
                </a:solidFill>
                <a:latin typeface="Arial"/>
                <a:ea typeface="Arial"/>
                <a:cs typeface="Arial"/>
              </a:defRPr>
            </a:lvl1pPr>
            <a:lvl2pPr>
              <a:defRPr sz="3225" b="1">
                <a:solidFill>
                  <a:srgbClr val="181818"/>
                </a:solidFill>
                <a:latin typeface="Arial"/>
                <a:ea typeface="Arial"/>
                <a:cs typeface="Arial"/>
              </a:defRPr>
            </a:lvl2pPr>
            <a:lvl3pPr>
              <a:defRPr sz="3225" b="1">
                <a:solidFill>
                  <a:srgbClr val="181818"/>
                </a:solidFill>
                <a:latin typeface="Arial"/>
                <a:ea typeface="Arial"/>
                <a:cs typeface="Arial"/>
              </a:defRPr>
            </a:lvl3pPr>
            <a:lvl4pPr>
              <a:defRPr sz="3225" b="1">
                <a:solidFill>
                  <a:srgbClr val="181818"/>
                </a:solidFill>
                <a:latin typeface="Arial"/>
                <a:ea typeface="Arial"/>
                <a:cs typeface="Arial"/>
              </a:defRPr>
            </a:lvl4pPr>
            <a:lvl5pPr>
              <a:defRPr sz="3225" b="1">
                <a:solidFill>
                  <a:srgbClr val="181818"/>
                </a:solidFill>
                <a:latin typeface="Arial"/>
                <a:ea typeface="Arial"/>
                <a:cs typeface="Arial"/>
              </a:defRPr>
            </a:lvl5pPr>
            <a:lvl6pPr>
              <a:defRPr sz="3225" b="1">
                <a:solidFill>
                  <a:srgbClr val="181818"/>
                </a:solidFill>
                <a:latin typeface="Arial"/>
                <a:ea typeface="Arial"/>
                <a:cs typeface="Arial"/>
              </a:defRPr>
            </a:lvl6pPr>
            <a:lvl7pPr>
              <a:defRPr sz="3225" b="1">
                <a:solidFill>
                  <a:srgbClr val="181818"/>
                </a:solidFill>
                <a:latin typeface="Arial"/>
                <a:ea typeface="Arial"/>
                <a:cs typeface="Arial"/>
              </a:defRPr>
            </a:lvl7pPr>
            <a:lvl8pPr>
              <a:defRPr sz="3225" b="1">
                <a:solidFill>
                  <a:srgbClr val="181818"/>
                </a:solidFill>
                <a:latin typeface="Arial"/>
                <a:ea typeface="Arial"/>
                <a:cs typeface="Arial"/>
              </a:defRPr>
            </a:lvl8pPr>
            <a:lvl9pPr>
              <a:defRPr sz="3225" b="1">
                <a:solidFill>
                  <a:srgbClr val="18181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81818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81818"/>
                </a:solidFill>
                <a:latin typeface="Arial"/>
                <a:ea typeface="Arial"/>
                <a:cs typeface="Arial"/>
              </a:rPr>
              <a:t>Kitchen product page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CA53AE-AB30-48FB-8CDB-3357BB139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96050"/>
            <a:ext cx="885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CASEN DOORS   Kitchen page review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FF2A828-1277-4950-88D0-D273463E1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3BC8D4-8F8E-4D3C-B01B-BFE468C86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76375"/>
            <a:ext cx="5429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1">
                <a:solidFill>
                  <a:srgbClr val="181818"/>
                </a:solidFill>
                <a:latin typeface="Arial"/>
                <a:ea typeface="Arial"/>
                <a:cs typeface="Arial"/>
              </a:defRPr>
            </a:defPPr>
            <a:lvl1pPr>
              <a:defRPr sz="3600" b="1">
                <a:solidFill>
                  <a:srgbClr val="181818"/>
                </a:solidFill>
                <a:latin typeface="Arial"/>
                <a:ea typeface="Arial"/>
                <a:cs typeface="Arial"/>
              </a:defRPr>
            </a:lvl1pPr>
            <a:lvl2pPr>
              <a:defRPr sz="3600" b="1">
                <a:solidFill>
                  <a:srgbClr val="181818"/>
                </a:solidFill>
                <a:latin typeface="Arial"/>
                <a:ea typeface="Arial"/>
                <a:cs typeface="Arial"/>
              </a:defRPr>
            </a:lvl2pPr>
            <a:lvl3pPr>
              <a:defRPr sz="3600" b="1">
                <a:solidFill>
                  <a:srgbClr val="181818"/>
                </a:solidFill>
                <a:latin typeface="Arial"/>
                <a:ea typeface="Arial"/>
                <a:cs typeface="Arial"/>
              </a:defRPr>
            </a:lvl3pPr>
            <a:lvl4pPr>
              <a:defRPr sz="3600" b="1">
                <a:solidFill>
                  <a:srgbClr val="181818"/>
                </a:solidFill>
                <a:latin typeface="Arial"/>
                <a:ea typeface="Arial"/>
                <a:cs typeface="Arial"/>
              </a:defRPr>
            </a:lvl4pPr>
            <a:lvl5pPr>
              <a:defRPr sz="3600" b="1">
                <a:solidFill>
                  <a:srgbClr val="181818"/>
                </a:solidFill>
                <a:latin typeface="Arial"/>
                <a:ea typeface="Arial"/>
                <a:cs typeface="Arial"/>
              </a:defRPr>
            </a:lvl5pPr>
            <a:lvl6pPr>
              <a:defRPr sz="3600" b="1">
                <a:solidFill>
                  <a:srgbClr val="181818"/>
                </a:solidFill>
                <a:latin typeface="Arial"/>
                <a:ea typeface="Arial"/>
                <a:cs typeface="Arial"/>
              </a:defRPr>
            </a:lvl6pPr>
            <a:lvl7pPr>
              <a:defRPr sz="3600" b="1">
                <a:solidFill>
                  <a:srgbClr val="181818"/>
                </a:solidFill>
                <a:latin typeface="Arial"/>
                <a:ea typeface="Arial"/>
                <a:cs typeface="Arial"/>
              </a:defRPr>
            </a:lvl7pPr>
            <a:lvl8pPr>
              <a:defRPr sz="3600" b="1">
                <a:solidFill>
                  <a:srgbClr val="181818"/>
                </a:solidFill>
                <a:latin typeface="Arial"/>
                <a:ea typeface="Arial"/>
                <a:cs typeface="Arial"/>
              </a:defRPr>
            </a:lvl8pPr>
            <a:lvl9pPr>
              <a:defRPr sz="3600" b="1">
                <a:solidFill>
                  <a:srgbClr val="18181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181818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81818"/>
                </a:solidFill>
                <a:latin typeface="Arial"/>
                <a:ea typeface="Arial"/>
                <a:cs typeface="Arial"/>
              </a:rPr>
              <a:t>Structure for review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243EC12-0C93-4F92-B4A2-53B9B3F3E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66975"/>
            <a:ext cx="4857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81818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181818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181818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181818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181818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181818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181818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181818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181818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18181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81818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81818"/>
                </a:solidFill>
                <a:latin typeface="Arial"/>
                <a:ea typeface="Arial"/>
                <a:cs typeface="Arial"/>
              </a:rPr>
              <a:t>Option 01: Signature</a:t>
            </a:r>
          </a:p>
          <a:p xmlns:a="http://schemas.openxmlformats.org/drawingml/2006/main">
            <a:pPr>
              <a:defRPr sz="2025" b="0">
                <a:solidFill>
                  <a:srgbClr val="181818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81818"/>
                </a:solidFill>
                <a:latin typeface="Arial"/>
                <a:ea typeface="Arial"/>
                <a:cs typeface="Arial"/>
              </a:rPr>
              <a:t>25 October 2026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B93CC25-E550-4477-9093-38FBB6318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00500"/>
            <a:ext cx="4762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81818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181818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181818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181818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181818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181818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181818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181818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181818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18181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81818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81818"/>
                </a:solidFill>
                <a:latin typeface="Arial"/>
                <a:ea typeface="Arial"/>
                <a:cs typeface="Arial"/>
              </a:rPr>
              <a:t>Please comment on the section order, layout and content requests on the following slides.</a:t>
            </a:r>
          </a:p>
        </p:txBody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2987C88-48A4-4D34-8027-80359BBBF8C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ca877b47f1f41b8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48375" y="1468438"/>
            <a:ext cx="5667375" cy="377825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D7A4424-E534-4C64-936C-85ECF940A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5429250"/>
            <a:ext cx="56673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686868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686868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686868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686868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686868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686868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686868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686868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686868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68686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8686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86868"/>
                </a:solidFill>
                <a:latin typeface="Arial"/>
                <a:ea typeface="Arial"/>
                <a:cs typeface="Arial"/>
              </a:rPr>
              <a:t>Kitchen reference image. Final project photography to follow.</a:t>
            </a:r>
          </a:p>
        </p:txBody>
      </p:sp>
    </p:spTree>
    <p:extLst>
      <p:ext uri="{BB962C8B-B14F-4D97-AF65-F5344CB8AC3E}">
        <p14:creationId xmlns:p14="http://schemas.microsoft.com/office/powerpoint/2010/main" val="72624096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A7C596-A62F-4E3B-B860-D195EDCBD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61950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181818"/>
                </a:solidFill>
                <a:latin typeface="Arial"/>
                <a:ea typeface="Arial"/>
                <a:cs typeface="Arial"/>
              </a:defRPr>
            </a:defPPr>
            <a:lvl1pPr>
              <a:defRPr sz="3225" b="1">
                <a:solidFill>
                  <a:srgbClr val="181818"/>
                </a:solidFill>
                <a:latin typeface="Arial"/>
                <a:ea typeface="Arial"/>
                <a:cs typeface="Arial"/>
              </a:defRPr>
            </a:lvl1pPr>
            <a:lvl2pPr>
              <a:defRPr sz="3225" b="1">
                <a:solidFill>
                  <a:srgbClr val="181818"/>
                </a:solidFill>
                <a:latin typeface="Arial"/>
                <a:ea typeface="Arial"/>
                <a:cs typeface="Arial"/>
              </a:defRPr>
            </a:lvl2pPr>
            <a:lvl3pPr>
              <a:defRPr sz="3225" b="1">
                <a:solidFill>
                  <a:srgbClr val="181818"/>
                </a:solidFill>
                <a:latin typeface="Arial"/>
                <a:ea typeface="Arial"/>
                <a:cs typeface="Arial"/>
              </a:defRPr>
            </a:lvl3pPr>
            <a:lvl4pPr>
              <a:defRPr sz="3225" b="1">
                <a:solidFill>
                  <a:srgbClr val="181818"/>
                </a:solidFill>
                <a:latin typeface="Arial"/>
                <a:ea typeface="Arial"/>
                <a:cs typeface="Arial"/>
              </a:defRPr>
            </a:lvl4pPr>
            <a:lvl5pPr>
              <a:defRPr sz="3225" b="1">
                <a:solidFill>
                  <a:srgbClr val="181818"/>
                </a:solidFill>
                <a:latin typeface="Arial"/>
                <a:ea typeface="Arial"/>
                <a:cs typeface="Arial"/>
              </a:defRPr>
            </a:lvl5pPr>
            <a:lvl6pPr>
              <a:defRPr sz="3225" b="1">
                <a:solidFill>
                  <a:srgbClr val="181818"/>
                </a:solidFill>
                <a:latin typeface="Arial"/>
                <a:ea typeface="Arial"/>
                <a:cs typeface="Arial"/>
              </a:defRPr>
            </a:lvl6pPr>
            <a:lvl7pPr>
              <a:defRPr sz="3225" b="1">
                <a:solidFill>
                  <a:srgbClr val="181818"/>
                </a:solidFill>
                <a:latin typeface="Arial"/>
                <a:ea typeface="Arial"/>
                <a:cs typeface="Arial"/>
              </a:defRPr>
            </a:lvl7pPr>
            <a:lvl8pPr>
              <a:defRPr sz="3225" b="1">
                <a:solidFill>
                  <a:srgbClr val="181818"/>
                </a:solidFill>
                <a:latin typeface="Arial"/>
                <a:ea typeface="Arial"/>
                <a:cs typeface="Arial"/>
              </a:defRPr>
            </a:lvl8pPr>
            <a:lvl9pPr>
              <a:defRPr sz="3225" b="1">
                <a:solidFill>
                  <a:srgbClr val="18181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81818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81818"/>
                </a:solidFill>
                <a:latin typeface="Arial"/>
                <a:ea typeface="Arial"/>
                <a:cs typeface="Arial"/>
              </a:rPr>
              <a:t>Proposed page order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2F0216-BA8F-4CE8-8AF4-D240DE85A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96050"/>
            <a:ext cx="885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CASEN DOORS   Kitchen page review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C6EFF0-086E-4E2B-868F-A3DC31826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8B773E-05FC-42DC-8C73-4D9A32E0D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76350"/>
            <a:ext cx="5476875" cy="400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81818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181818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181818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181818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181818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181818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181818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181818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181818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18181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8181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81818"/>
                </a:solidFill>
                <a:latin typeface="Arial"/>
                <a:ea typeface="Arial"/>
                <a:cs typeface="Arial"/>
              </a:rPr>
              <a:t>01   Kitchen photograph and configurator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18181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81818"/>
                </a:solidFill>
                <a:latin typeface="Arial"/>
                <a:ea typeface="Arial"/>
                <a:cs typeface="Arial"/>
              </a:rPr>
              <a:t>02   Four feature images and specifications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18181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81818"/>
                </a:solidFill>
                <a:latin typeface="Arial"/>
                <a:ea typeface="Arial"/>
                <a:cs typeface="Arial"/>
              </a:rPr>
              <a:t>03   Colour options 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18181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81818"/>
                </a:solidFill>
                <a:latin typeface="Arial"/>
                <a:ea typeface="Arial"/>
                <a:cs typeface="Arial"/>
              </a:rPr>
              <a:t>04   Why Invest in a Kitchen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18181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81818"/>
                </a:solidFill>
                <a:latin typeface="Arial"/>
                <a:ea typeface="Arial"/>
                <a:cs typeface="Arial"/>
              </a:rPr>
              <a:t>05   Previous work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6F7800-3226-4977-B9D9-7CEA8B8E4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1276350"/>
            <a:ext cx="5238750" cy="400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81818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181818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181818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181818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181818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181818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181818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181818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181818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18181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8181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81818"/>
                </a:solidFill>
                <a:latin typeface="Arial"/>
                <a:ea typeface="Arial"/>
                <a:cs typeface="Arial"/>
              </a:rPr>
              <a:t>06   Guarantee and linked document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18181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81818"/>
                </a:solidFill>
                <a:latin typeface="Arial"/>
                <a:ea typeface="Arial"/>
                <a:cs typeface="Arial"/>
              </a:rPr>
              <a:t>07   FAQ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18181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81818"/>
                </a:solidFill>
                <a:latin typeface="Arial"/>
                <a:ea typeface="Arial"/>
                <a:cs typeface="Arial"/>
              </a:rPr>
              <a:t>08   Google Reviews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18181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81818"/>
                </a:solidFill>
                <a:latin typeface="Arial"/>
                <a:ea typeface="Arial"/>
                <a:cs typeface="Arial"/>
              </a:rPr>
              <a:t>09   You May Also Like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18181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81818"/>
                </a:solidFill>
                <a:latin typeface="Arial"/>
                <a:ea typeface="Arial"/>
                <a:cs typeface="Arial"/>
              </a:rPr>
              <a:t>10   Footer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7EE940D-BFD2-44A2-8A14-FB901382D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362575"/>
            <a:ext cx="11049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181818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181818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181818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181818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181818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181818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181818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181818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181818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18181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8181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81818"/>
                </a:solidFill>
                <a:latin typeface="Arial"/>
                <a:ea typeface="Arial"/>
                <a:cs typeface="Arial"/>
              </a:rPr>
              <a:t>Order Process: optional section. Position to confirm.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3F964E5-B07C-47CA-B5A3-77A8B237D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15000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6B6B6B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6B6B6B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6B6B6B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6B6B6B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6B6B6B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6B6B6B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6B6B6B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6B6B6B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6B6B6B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6B6B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6B6B6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B6B6B"/>
                </a:solidFill>
                <a:latin typeface="Arial"/>
                <a:ea typeface="Arial"/>
                <a:cs typeface="Arial"/>
              </a:rPr>
              <a:t>William’s comments: section order and Order Process position</a:t>
            </a:r>
          </a:p>
        </p:txBody>
      </p:sp>
    </p:spTree>
    <p:extLst>
      <p:ext uri="{BB962C8B-B14F-4D97-AF65-F5344CB8AC3E}">
        <p14:creationId xmlns:p14="http://schemas.microsoft.com/office/powerpoint/2010/main" val="213911781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1EA5BD-8027-4955-93F6-A0AD3BA7F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61950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181818"/>
                </a:solidFill>
                <a:latin typeface="Arial"/>
                <a:ea typeface="Arial"/>
                <a:cs typeface="Arial"/>
              </a:defRPr>
            </a:defPPr>
            <a:lvl1pPr>
              <a:defRPr sz="3225" b="1">
                <a:solidFill>
                  <a:srgbClr val="181818"/>
                </a:solidFill>
                <a:latin typeface="Arial"/>
                <a:ea typeface="Arial"/>
                <a:cs typeface="Arial"/>
              </a:defRPr>
            </a:lvl1pPr>
            <a:lvl2pPr>
              <a:defRPr sz="3225" b="1">
                <a:solidFill>
                  <a:srgbClr val="181818"/>
                </a:solidFill>
                <a:latin typeface="Arial"/>
                <a:ea typeface="Arial"/>
                <a:cs typeface="Arial"/>
              </a:defRPr>
            </a:lvl2pPr>
            <a:lvl3pPr>
              <a:defRPr sz="3225" b="1">
                <a:solidFill>
                  <a:srgbClr val="181818"/>
                </a:solidFill>
                <a:latin typeface="Arial"/>
                <a:ea typeface="Arial"/>
                <a:cs typeface="Arial"/>
              </a:defRPr>
            </a:lvl3pPr>
            <a:lvl4pPr>
              <a:defRPr sz="3225" b="1">
                <a:solidFill>
                  <a:srgbClr val="181818"/>
                </a:solidFill>
                <a:latin typeface="Arial"/>
                <a:ea typeface="Arial"/>
                <a:cs typeface="Arial"/>
              </a:defRPr>
            </a:lvl4pPr>
            <a:lvl5pPr>
              <a:defRPr sz="3225" b="1">
                <a:solidFill>
                  <a:srgbClr val="181818"/>
                </a:solidFill>
                <a:latin typeface="Arial"/>
                <a:ea typeface="Arial"/>
                <a:cs typeface="Arial"/>
              </a:defRPr>
            </a:lvl5pPr>
            <a:lvl6pPr>
              <a:defRPr sz="3225" b="1">
                <a:solidFill>
                  <a:srgbClr val="181818"/>
                </a:solidFill>
                <a:latin typeface="Arial"/>
                <a:ea typeface="Arial"/>
                <a:cs typeface="Arial"/>
              </a:defRPr>
            </a:lvl6pPr>
            <a:lvl7pPr>
              <a:defRPr sz="3225" b="1">
                <a:solidFill>
                  <a:srgbClr val="181818"/>
                </a:solidFill>
                <a:latin typeface="Arial"/>
                <a:ea typeface="Arial"/>
                <a:cs typeface="Arial"/>
              </a:defRPr>
            </a:lvl7pPr>
            <a:lvl8pPr>
              <a:defRPr sz="3225" b="1">
                <a:solidFill>
                  <a:srgbClr val="181818"/>
                </a:solidFill>
                <a:latin typeface="Arial"/>
                <a:ea typeface="Arial"/>
                <a:cs typeface="Arial"/>
              </a:defRPr>
            </a:lvl8pPr>
            <a:lvl9pPr>
              <a:defRPr sz="3225" b="1">
                <a:solidFill>
                  <a:srgbClr val="18181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81818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81818"/>
                </a:solidFill>
                <a:latin typeface="Arial"/>
                <a:ea typeface="Arial"/>
                <a:cs typeface="Arial"/>
              </a:rPr>
              <a:t>01  Kitchen photograph and configurator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46EEC6-2AB3-4B74-8F14-DCB17CB82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96050"/>
            <a:ext cx="885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CASEN DOORS   Kitchen page review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AED521-22C1-4872-9C9B-CB632EDEB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BC26F5-5A6E-43CF-BF41-7479F40E6A0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3039887b4934e5d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01514" y="1162050"/>
            <a:ext cx="6055122" cy="398145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196E35-8F25-4BFD-B7DE-E197C53A0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238750"/>
            <a:ext cx="7067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686868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686868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686868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686868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686868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686868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686868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686868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686868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68686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8686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86868"/>
                </a:solidFill>
                <a:latin typeface="Arial"/>
                <a:ea typeface="Arial"/>
                <a:cs typeface="Arial"/>
              </a:rPr>
              <a:t>Option 01 prototype. Prices, dimensions and images are illustrative.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8C5EE1-56BF-4CA5-9151-7DBE29098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1200150"/>
            <a:ext cx="3714750" cy="417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181818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181818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181818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181818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181818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181818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181818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181818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181818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18181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181818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81818"/>
                </a:solidFill>
                <a:latin typeface="Arial"/>
                <a:ea typeface="Arial"/>
                <a:cs typeface="Arial"/>
              </a:rPr>
              <a:t>Product title above the main content.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00" b="0">
                <a:solidFill>
                  <a:srgbClr val="181818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81818"/>
                </a:solidFill>
                <a:latin typeface="Arial"/>
                <a:ea typeface="Arial"/>
                <a:cs typeface="Arial"/>
              </a:rPr>
              <a:t>Large kitchen image beside the four configuration steps.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00" b="0">
                <a:solidFill>
                  <a:srgbClr val="181818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81818"/>
                </a:solidFill>
                <a:latin typeface="Arial"/>
                <a:ea typeface="Arial"/>
                <a:cs typeface="Arial"/>
              </a:rPr>
              <a:t>Running price and quotation action.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00" b="0">
                <a:solidFill>
                  <a:srgbClr val="181818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81818"/>
                </a:solidFill>
                <a:latin typeface="Arial"/>
                <a:ea typeface="Arial"/>
                <a:cs typeface="Arial"/>
              </a:rPr>
              <a:t>Needed: exact title, introduction, catalogue and approved prices.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5CE906-E52C-48F8-B516-DD62CEF02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15000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6B6B6B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6B6B6B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6B6B6B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6B6B6B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6B6B6B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6B6B6B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6B6B6B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6B6B6B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6B6B6B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6B6B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6B6B6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B6B6B"/>
                </a:solidFill>
                <a:latin typeface="Arial"/>
                <a:ea typeface="Arial"/>
                <a:cs typeface="Arial"/>
              </a:rPr>
              <a:t>William’s comments: title, image position and configuration controls</a:t>
            </a:r>
          </a:p>
        </p:txBody>
      </p:sp>
    </p:spTree>
    <p:extLst>
      <p:ext uri="{BB962C8B-B14F-4D97-AF65-F5344CB8AC3E}">
        <p14:creationId xmlns:p14="http://schemas.microsoft.com/office/powerpoint/2010/main" val="31742375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CC87CA-7A67-42B8-82B0-52045C8F3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61950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181818"/>
                </a:solidFill>
                <a:latin typeface="Arial"/>
                <a:ea typeface="Arial"/>
                <a:cs typeface="Arial"/>
              </a:defRPr>
            </a:defPPr>
            <a:lvl1pPr>
              <a:defRPr sz="3225" b="1">
                <a:solidFill>
                  <a:srgbClr val="181818"/>
                </a:solidFill>
                <a:latin typeface="Arial"/>
                <a:ea typeface="Arial"/>
                <a:cs typeface="Arial"/>
              </a:defRPr>
            </a:lvl1pPr>
            <a:lvl2pPr>
              <a:defRPr sz="3225" b="1">
                <a:solidFill>
                  <a:srgbClr val="181818"/>
                </a:solidFill>
                <a:latin typeface="Arial"/>
                <a:ea typeface="Arial"/>
                <a:cs typeface="Arial"/>
              </a:defRPr>
            </a:lvl2pPr>
            <a:lvl3pPr>
              <a:defRPr sz="3225" b="1">
                <a:solidFill>
                  <a:srgbClr val="181818"/>
                </a:solidFill>
                <a:latin typeface="Arial"/>
                <a:ea typeface="Arial"/>
                <a:cs typeface="Arial"/>
              </a:defRPr>
            </a:lvl3pPr>
            <a:lvl4pPr>
              <a:defRPr sz="3225" b="1">
                <a:solidFill>
                  <a:srgbClr val="181818"/>
                </a:solidFill>
                <a:latin typeface="Arial"/>
                <a:ea typeface="Arial"/>
                <a:cs typeface="Arial"/>
              </a:defRPr>
            </a:lvl4pPr>
            <a:lvl5pPr>
              <a:defRPr sz="3225" b="1">
                <a:solidFill>
                  <a:srgbClr val="181818"/>
                </a:solidFill>
                <a:latin typeface="Arial"/>
                <a:ea typeface="Arial"/>
                <a:cs typeface="Arial"/>
              </a:defRPr>
            </a:lvl5pPr>
            <a:lvl6pPr>
              <a:defRPr sz="3225" b="1">
                <a:solidFill>
                  <a:srgbClr val="181818"/>
                </a:solidFill>
                <a:latin typeface="Arial"/>
                <a:ea typeface="Arial"/>
                <a:cs typeface="Arial"/>
              </a:defRPr>
            </a:lvl6pPr>
            <a:lvl7pPr>
              <a:defRPr sz="3225" b="1">
                <a:solidFill>
                  <a:srgbClr val="181818"/>
                </a:solidFill>
                <a:latin typeface="Arial"/>
                <a:ea typeface="Arial"/>
                <a:cs typeface="Arial"/>
              </a:defRPr>
            </a:lvl7pPr>
            <a:lvl8pPr>
              <a:defRPr sz="3225" b="1">
                <a:solidFill>
                  <a:srgbClr val="181818"/>
                </a:solidFill>
                <a:latin typeface="Arial"/>
                <a:ea typeface="Arial"/>
                <a:cs typeface="Arial"/>
              </a:defRPr>
            </a:lvl8pPr>
            <a:lvl9pPr>
              <a:defRPr sz="3225" b="1">
                <a:solidFill>
                  <a:srgbClr val="18181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81818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81818"/>
                </a:solidFill>
                <a:latin typeface="Arial"/>
                <a:ea typeface="Arial"/>
                <a:cs typeface="Arial"/>
              </a:rPr>
              <a:t>02  Features and specifications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7C63B0-13F4-4CA1-9135-BAFD33CFC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96050"/>
            <a:ext cx="885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CASEN DOORS   Kitchen page review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7F4EA2-6082-4BFC-9BD8-3C05559E4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23BD97-5DD2-4D7C-AC71-9CBE6311D97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e626e21a70d4263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95300" y="2048470"/>
            <a:ext cx="7067550" cy="2208609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BE1424-4851-4C4A-A257-645ACA8BD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238750"/>
            <a:ext cx="7067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686868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686868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686868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686868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686868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686868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686868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686868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686868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68686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8686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86868"/>
                </a:solidFill>
                <a:latin typeface="Arial"/>
                <a:ea typeface="Arial"/>
                <a:cs typeface="Arial"/>
              </a:rPr>
              <a:t>Existing door page: four circular feature images.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2ED754-E9C4-4D9A-8515-79580433B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1200150"/>
            <a:ext cx="3714750" cy="417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181818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181818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181818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181818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181818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181818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181818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181818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181818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18181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181818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81818"/>
                </a:solidFill>
                <a:latin typeface="Arial"/>
                <a:ea typeface="Arial"/>
                <a:cs typeface="Arial"/>
              </a:rPr>
              <a:t>Four circular images with short headings and descriptions.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00" b="0">
                <a:solidFill>
                  <a:srgbClr val="181818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81818"/>
                </a:solidFill>
                <a:latin typeface="Arial"/>
                <a:ea typeface="Arial"/>
                <a:cs typeface="Arial"/>
              </a:rPr>
              <a:t>Needed: four kitchen images and approved copy.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00" b="0">
                <a:solidFill>
                  <a:srgbClr val="181818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81818"/>
                </a:solidFill>
                <a:latin typeface="Arial"/>
                <a:ea typeface="Arial"/>
                <a:cs typeface="Arial"/>
              </a:rPr>
              <a:t>Please identify where carcass and door materials and thicknesses should appear.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72324E4-1798-47B0-8C60-756EEE960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15000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6B6B6B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6B6B6B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6B6B6B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6B6B6B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6B6B6B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6B6B6B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6B6B6B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6B6B6B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6B6B6B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6B6B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6B6B6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B6B6B"/>
                </a:solidFill>
                <a:latin typeface="Arial"/>
                <a:ea typeface="Arial"/>
                <a:cs typeface="Arial"/>
              </a:rPr>
              <a:t>William’s comments: four feature topics and standard specifications</a:t>
            </a:r>
          </a:p>
        </p:txBody>
      </p:sp>
    </p:spTree>
    <p:extLst>
      <p:ext uri="{BB962C8B-B14F-4D97-AF65-F5344CB8AC3E}">
        <p14:creationId xmlns:p14="http://schemas.microsoft.com/office/powerpoint/2010/main" val="166833103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E897C6-69B8-4704-B749-026BBA604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61950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181818"/>
                </a:solidFill>
                <a:latin typeface="Arial"/>
                <a:ea typeface="Arial"/>
                <a:cs typeface="Arial"/>
              </a:defRPr>
            </a:defPPr>
            <a:lvl1pPr>
              <a:defRPr sz="3225" b="1">
                <a:solidFill>
                  <a:srgbClr val="181818"/>
                </a:solidFill>
                <a:latin typeface="Arial"/>
                <a:ea typeface="Arial"/>
                <a:cs typeface="Arial"/>
              </a:defRPr>
            </a:lvl1pPr>
            <a:lvl2pPr>
              <a:defRPr sz="3225" b="1">
                <a:solidFill>
                  <a:srgbClr val="181818"/>
                </a:solidFill>
                <a:latin typeface="Arial"/>
                <a:ea typeface="Arial"/>
                <a:cs typeface="Arial"/>
              </a:defRPr>
            </a:lvl2pPr>
            <a:lvl3pPr>
              <a:defRPr sz="3225" b="1">
                <a:solidFill>
                  <a:srgbClr val="181818"/>
                </a:solidFill>
                <a:latin typeface="Arial"/>
                <a:ea typeface="Arial"/>
                <a:cs typeface="Arial"/>
              </a:defRPr>
            </a:lvl3pPr>
            <a:lvl4pPr>
              <a:defRPr sz="3225" b="1">
                <a:solidFill>
                  <a:srgbClr val="181818"/>
                </a:solidFill>
                <a:latin typeface="Arial"/>
                <a:ea typeface="Arial"/>
                <a:cs typeface="Arial"/>
              </a:defRPr>
            </a:lvl4pPr>
            <a:lvl5pPr>
              <a:defRPr sz="3225" b="1">
                <a:solidFill>
                  <a:srgbClr val="181818"/>
                </a:solidFill>
                <a:latin typeface="Arial"/>
                <a:ea typeface="Arial"/>
                <a:cs typeface="Arial"/>
              </a:defRPr>
            </a:lvl5pPr>
            <a:lvl6pPr>
              <a:defRPr sz="3225" b="1">
                <a:solidFill>
                  <a:srgbClr val="181818"/>
                </a:solidFill>
                <a:latin typeface="Arial"/>
                <a:ea typeface="Arial"/>
                <a:cs typeface="Arial"/>
              </a:defRPr>
            </a:lvl6pPr>
            <a:lvl7pPr>
              <a:defRPr sz="3225" b="1">
                <a:solidFill>
                  <a:srgbClr val="181818"/>
                </a:solidFill>
                <a:latin typeface="Arial"/>
                <a:ea typeface="Arial"/>
                <a:cs typeface="Arial"/>
              </a:defRPr>
            </a:lvl7pPr>
            <a:lvl8pPr>
              <a:defRPr sz="3225" b="1">
                <a:solidFill>
                  <a:srgbClr val="181818"/>
                </a:solidFill>
                <a:latin typeface="Arial"/>
                <a:ea typeface="Arial"/>
                <a:cs typeface="Arial"/>
              </a:defRPr>
            </a:lvl8pPr>
            <a:lvl9pPr>
              <a:defRPr sz="3225" b="1">
                <a:solidFill>
                  <a:srgbClr val="18181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81818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81818"/>
                </a:solidFill>
                <a:latin typeface="Arial"/>
                <a:ea typeface="Arial"/>
                <a:cs typeface="Arial"/>
              </a:rPr>
              <a:t>03  Colour options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94ABD5-C36A-4865-A3E0-FB2673999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96050"/>
            <a:ext cx="885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CASEN DOORS   Kitchen page review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7656CA-3237-4422-B85E-3954B09EE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E2889E-0797-416D-9732-07CA8BC8F92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c6364e278a74f56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95300" y="2545407"/>
            <a:ext cx="7067550" cy="1214735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2A9AAB-C389-4ECE-A62B-CF397F825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238750"/>
            <a:ext cx="7067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686868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686868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686868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686868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686868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686868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686868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686868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686868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68686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8686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86868"/>
                </a:solidFill>
                <a:latin typeface="Arial"/>
                <a:ea typeface="Arial"/>
                <a:cs typeface="Arial"/>
              </a:rPr>
              <a:t>Existing door page: downloadable colour charts.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D17D530-FE06-4351-A8D8-4C905BECD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1200150"/>
            <a:ext cx="3714750" cy="417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181818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181818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181818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181818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181818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181818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181818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181818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181818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18181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181818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81818"/>
                </a:solidFill>
                <a:latin typeface="Arial"/>
                <a:ea typeface="Arial"/>
                <a:cs typeface="Arial"/>
              </a:rPr>
              <a:t>Downloadable kitchen colour PDF in the same format.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00" b="0">
                <a:solidFill>
                  <a:srgbClr val="181818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81818"/>
                </a:solidFill>
                <a:latin typeface="Arial"/>
                <a:ea typeface="Arial"/>
                <a:cs typeface="Arial"/>
              </a:rPr>
              <a:t>Needed: final kitchen colour file and link label.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00" b="0">
                <a:solidFill>
                  <a:srgbClr val="181818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81818"/>
                </a:solidFill>
                <a:latin typeface="Arial"/>
                <a:ea typeface="Arial"/>
                <a:cs typeface="Arial"/>
              </a:rPr>
              <a:t>This is a document download. A colour selection step has not been agreed.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D38EA03-E3B9-42D7-9D68-9DA23E722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15000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6B6B6B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6B6B6B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6B6B6B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6B6B6B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6B6B6B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6B6B6B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6B6B6B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6B6B6B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6B6B6B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6B6B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6B6B6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B6B6B"/>
                </a:solidFill>
                <a:latin typeface="Arial"/>
                <a:ea typeface="Arial"/>
                <a:cs typeface="Arial"/>
              </a:rPr>
              <a:t>William’s comments: PDF title, number of files and placement</a:t>
            </a:r>
          </a:p>
        </p:txBody>
      </p:sp>
    </p:spTree>
    <p:extLst>
      <p:ext uri="{BB962C8B-B14F-4D97-AF65-F5344CB8AC3E}">
        <p14:creationId xmlns:p14="http://schemas.microsoft.com/office/powerpoint/2010/main" val="48850888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29D0C4-C39D-4072-8CE3-3728BDB76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61950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181818"/>
                </a:solidFill>
                <a:latin typeface="Arial"/>
                <a:ea typeface="Arial"/>
                <a:cs typeface="Arial"/>
              </a:defRPr>
            </a:defPPr>
            <a:lvl1pPr>
              <a:defRPr sz="3225" b="1">
                <a:solidFill>
                  <a:srgbClr val="181818"/>
                </a:solidFill>
                <a:latin typeface="Arial"/>
                <a:ea typeface="Arial"/>
                <a:cs typeface="Arial"/>
              </a:defRPr>
            </a:lvl1pPr>
            <a:lvl2pPr>
              <a:defRPr sz="3225" b="1">
                <a:solidFill>
                  <a:srgbClr val="181818"/>
                </a:solidFill>
                <a:latin typeface="Arial"/>
                <a:ea typeface="Arial"/>
                <a:cs typeface="Arial"/>
              </a:defRPr>
            </a:lvl2pPr>
            <a:lvl3pPr>
              <a:defRPr sz="3225" b="1">
                <a:solidFill>
                  <a:srgbClr val="181818"/>
                </a:solidFill>
                <a:latin typeface="Arial"/>
                <a:ea typeface="Arial"/>
                <a:cs typeface="Arial"/>
              </a:defRPr>
            </a:lvl3pPr>
            <a:lvl4pPr>
              <a:defRPr sz="3225" b="1">
                <a:solidFill>
                  <a:srgbClr val="181818"/>
                </a:solidFill>
                <a:latin typeface="Arial"/>
                <a:ea typeface="Arial"/>
                <a:cs typeface="Arial"/>
              </a:defRPr>
            </a:lvl4pPr>
            <a:lvl5pPr>
              <a:defRPr sz="3225" b="1">
                <a:solidFill>
                  <a:srgbClr val="181818"/>
                </a:solidFill>
                <a:latin typeface="Arial"/>
                <a:ea typeface="Arial"/>
                <a:cs typeface="Arial"/>
              </a:defRPr>
            </a:lvl5pPr>
            <a:lvl6pPr>
              <a:defRPr sz="3225" b="1">
                <a:solidFill>
                  <a:srgbClr val="181818"/>
                </a:solidFill>
                <a:latin typeface="Arial"/>
                <a:ea typeface="Arial"/>
                <a:cs typeface="Arial"/>
              </a:defRPr>
            </a:lvl6pPr>
            <a:lvl7pPr>
              <a:defRPr sz="3225" b="1">
                <a:solidFill>
                  <a:srgbClr val="181818"/>
                </a:solidFill>
                <a:latin typeface="Arial"/>
                <a:ea typeface="Arial"/>
                <a:cs typeface="Arial"/>
              </a:defRPr>
            </a:lvl7pPr>
            <a:lvl8pPr>
              <a:defRPr sz="3225" b="1">
                <a:solidFill>
                  <a:srgbClr val="181818"/>
                </a:solidFill>
                <a:latin typeface="Arial"/>
                <a:ea typeface="Arial"/>
                <a:cs typeface="Arial"/>
              </a:defRPr>
            </a:lvl8pPr>
            <a:lvl9pPr>
              <a:defRPr sz="3225" b="1">
                <a:solidFill>
                  <a:srgbClr val="18181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81818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81818"/>
                </a:solidFill>
                <a:latin typeface="Arial"/>
                <a:ea typeface="Arial"/>
                <a:cs typeface="Arial"/>
              </a:rPr>
              <a:t>04  Why Invest in a Kitchen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D06424-E842-495A-8433-F0C7CABF8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96050"/>
            <a:ext cx="885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CASEN DOORS   Kitchen page review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701835-616F-4C5B-9E4F-376E56F3B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2C62FA-9CF8-44E7-BB7C-3B21FE09CC4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f2eda684c44481e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95300" y="1165027"/>
            <a:ext cx="7067550" cy="3975497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54832B-322A-464B-9D9F-865F1FCF1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238750"/>
            <a:ext cx="7067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686868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686868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686868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686868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686868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686868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686868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686868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686868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68686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8686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86868"/>
                </a:solidFill>
                <a:latin typeface="Arial"/>
                <a:ea typeface="Arial"/>
                <a:cs typeface="Arial"/>
              </a:rPr>
              <a:t>Existing door page: alternating image and text blocks.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EFF9B7-0A02-4520-80BC-E7DDA346F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1200150"/>
            <a:ext cx="3714750" cy="417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181818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181818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181818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181818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181818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181818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181818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181818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181818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18181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181818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81818"/>
                </a:solidFill>
                <a:latin typeface="Arial"/>
                <a:ea typeface="Arial"/>
                <a:cs typeface="Arial"/>
              </a:rPr>
              <a:t>Alternate image and text positions between blocks.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00" b="0">
                <a:solidFill>
                  <a:srgbClr val="181818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81818"/>
                </a:solidFill>
                <a:latin typeface="Arial"/>
                <a:ea typeface="Arial"/>
                <a:cs typeface="Arial"/>
              </a:rPr>
              <a:t>Needed: kitchen-specific headings, photographs and approved descriptions.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00" b="0">
                <a:solidFill>
                  <a:srgbClr val="181818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81818"/>
                </a:solidFill>
                <a:latin typeface="Arial"/>
                <a:ea typeface="Arial"/>
                <a:cs typeface="Arial"/>
              </a:rPr>
              <a:t>Please confirm the number of blocks.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8B27E54-FF70-4C73-ACFC-292E3485D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15000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6B6B6B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6B6B6B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6B6B6B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6B6B6B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6B6B6B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6B6B6B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6B6B6B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6B6B6B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6B6B6B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6B6B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6B6B6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B6B6B"/>
                </a:solidFill>
                <a:latin typeface="Arial"/>
                <a:ea typeface="Arial"/>
                <a:cs typeface="Arial"/>
              </a:rPr>
              <a:t>William’s comments: block count, headings and image order</a:t>
            </a:r>
          </a:p>
        </p:txBody>
      </p:sp>
    </p:spTree>
    <p:extLst>
      <p:ext uri="{BB962C8B-B14F-4D97-AF65-F5344CB8AC3E}">
        <p14:creationId xmlns:p14="http://schemas.microsoft.com/office/powerpoint/2010/main" val="151580755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0A688B-9653-47F5-A57C-9223DB0F2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61950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181818"/>
                </a:solidFill>
                <a:latin typeface="Arial"/>
                <a:ea typeface="Arial"/>
                <a:cs typeface="Arial"/>
              </a:defRPr>
            </a:defPPr>
            <a:lvl1pPr>
              <a:defRPr sz="3225" b="1">
                <a:solidFill>
                  <a:srgbClr val="181818"/>
                </a:solidFill>
                <a:latin typeface="Arial"/>
                <a:ea typeface="Arial"/>
                <a:cs typeface="Arial"/>
              </a:defRPr>
            </a:lvl1pPr>
            <a:lvl2pPr>
              <a:defRPr sz="3225" b="1">
                <a:solidFill>
                  <a:srgbClr val="181818"/>
                </a:solidFill>
                <a:latin typeface="Arial"/>
                <a:ea typeface="Arial"/>
                <a:cs typeface="Arial"/>
              </a:defRPr>
            </a:lvl2pPr>
            <a:lvl3pPr>
              <a:defRPr sz="3225" b="1">
                <a:solidFill>
                  <a:srgbClr val="181818"/>
                </a:solidFill>
                <a:latin typeface="Arial"/>
                <a:ea typeface="Arial"/>
                <a:cs typeface="Arial"/>
              </a:defRPr>
            </a:lvl3pPr>
            <a:lvl4pPr>
              <a:defRPr sz="3225" b="1">
                <a:solidFill>
                  <a:srgbClr val="181818"/>
                </a:solidFill>
                <a:latin typeface="Arial"/>
                <a:ea typeface="Arial"/>
                <a:cs typeface="Arial"/>
              </a:defRPr>
            </a:lvl4pPr>
            <a:lvl5pPr>
              <a:defRPr sz="3225" b="1">
                <a:solidFill>
                  <a:srgbClr val="181818"/>
                </a:solidFill>
                <a:latin typeface="Arial"/>
                <a:ea typeface="Arial"/>
                <a:cs typeface="Arial"/>
              </a:defRPr>
            </a:lvl5pPr>
            <a:lvl6pPr>
              <a:defRPr sz="3225" b="1">
                <a:solidFill>
                  <a:srgbClr val="181818"/>
                </a:solidFill>
                <a:latin typeface="Arial"/>
                <a:ea typeface="Arial"/>
                <a:cs typeface="Arial"/>
              </a:defRPr>
            </a:lvl6pPr>
            <a:lvl7pPr>
              <a:defRPr sz="3225" b="1">
                <a:solidFill>
                  <a:srgbClr val="181818"/>
                </a:solidFill>
                <a:latin typeface="Arial"/>
                <a:ea typeface="Arial"/>
                <a:cs typeface="Arial"/>
              </a:defRPr>
            </a:lvl7pPr>
            <a:lvl8pPr>
              <a:defRPr sz="3225" b="1">
                <a:solidFill>
                  <a:srgbClr val="181818"/>
                </a:solidFill>
                <a:latin typeface="Arial"/>
                <a:ea typeface="Arial"/>
                <a:cs typeface="Arial"/>
              </a:defRPr>
            </a:lvl8pPr>
            <a:lvl9pPr>
              <a:defRPr sz="3225" b="1">
                <a:solidFill>
                  <a:srgbClr val="18181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81818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81818"/>
                </a:solidFill>
                <a:latin typeface="Arial"/>
                <a:ea typeface="Arial"/>
                <a:cs typeface="Arial"/>
              </a:rPr>
              <a:t>05  Previous work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BC8E4F-8E77-48B7-86AA-0F842AD68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96050"/>
            <a:ext cx="885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CASEN DOORS   Kitchen page review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BBA390-9383-4B94-90B8-7653F7E89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EE0321-7E5F-4BC3-ABE7-72AB247F088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c0d173b9c5f4b62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62038" y="1257300"/>
            <a:ext cx="5105400" cy="382905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752463-E443-43D3-9AD6-8A1E99713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257800"/>
            <a:ext cx="62388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686868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686868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686868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686868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686868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686868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686868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686868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686868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68686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68686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86868"/>
                </a:solidFill>
                <a:latin typeface="Arial"/>
                <a:ea typeface="Arial"/>
                <a:cs typeface="Arial"/>
              </a:rPr>
              <a:t>Reference detail image. Client project photography is still needed.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598DDE-3B7F-4A1D-80CC-DC10DACC1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1333500"/>
            <a:ext cx="4419600" cy="3524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181818"/>
                </a:solidFill>
                <a:latin typeface="Arial"/>
                <a:ea typeface="Arial"/>
                <a:cs typeface="Arial"/>
              </a:defRPr>
            </a:defPPr>
            <a:lvl1pPr>
              <a:defRPr sz="1950" b="0">
                <a:solidFill>
                  <a:srgbClr val="181818"/>
                </a:solidFill>
                <a:latin typeface="Arial"/>
                <a:ea typeface="Arial"/>
                <a:cs typeface="Arial"/>
              </a:defRPr>
            </a:lvl1pPr>
            <a:lvl2pPr>
              <a:defRPr sz="1950" b="0">
                <a:solidFill>
                  <a:srgbClr val="181818"/>
                </a:solidFill>
                <a:latin typeface="Arial"/>
                <a:ea typeface="Arial"/>
                <a:cs typeface="Arial"/>
              </a:defRPr>
            </a:lvl2pPr>
            <a:lvl3pPr>
              <a:defRPr sz="1950" b="0">
                <a:solidFill>
                  <a:srgbClr val="181818"/>
                </a:solidFill>
                <a:latin typeface="Arial"/>
                <a:ea typeface="Arial"/>
                <a:cs typeface="Arial"/>
              </a:defRPr>
            </a:lvl3pPr>
            <a:lvl4pPr>
              <a:defRPr sz="1950" b="0">
                <a:solidFill>
                  <a:srgbClr val="181818"/>
                </a:solidFill>
                <a:latin typeface="Arial"/>
                <a:ea typeface="Arial"/>
                <a:cs typeface="Arial"/>
              </a:defRPr>
            </a:lvl4pPr>
            <a:lvl5pPr>
              <a:defRPr sz="1950" b="0">
                <a:solidFill>
                  <a:srgbClr val="181818"/>
                </a:solidFill>
                <a:latin typeface="Arial"/>
                <a:ea typeface="Arial"/>
                <a:cs typeface="Arial"/>
              </a:defRPr>
            </a:lvl5pPr>
            <a:lvl6pPr>
              <a:defRPr sz="1950" b="0">
                <a:solidFill>
                  <a:srgbClr val="181818"/>
                </a:solidFill>
                <a:latin typeface="Arial"/>
                <a:ea typeface="Arial"/>
                <a:cs typeface="Arial"/>
              </a:defRPr>
            </a:lvl6pPr>
            <a:lvl7pPr>
              <a:defRPr sz="1950" b="0">
                <a:solidFill>
                  <a:srgbClr val="181818"/>
                </a:solidFill>
                <a:latin typeface="Arial"/>
                <a:ea typeface="Arial"/>
                <a:cs typeface="Arial"/>
              </a:defRPr>
            </a:lvl7pPr>
            <a:lvl8pPr>
              <a:defRPr sz="1950" b="0">
                <a:solidFill>
                  <a:srgbClr val="181818"/>
                </a:solidFill>
                <a:latin typeface="Arial"/>
                <a:ea typeface="Arial"/>
                <a:cs typeface="Arial"/>
              </a:defRPr>
            </a:lvl8pPr>
            <a:lvl9pPr>
              <a:defRPr sz="1950" b="0">
                <a:solidFill>
                  <a:srgbClr val="18181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181818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81818"/>
                </a:solidFill>
                <a:latin typeface="Arial"/>
                <a:ea typeface="Arial"/>
                <a:cs typeface="Arial"/>
              </a:rPr>
              <a:t>Kitchen project photographs with short descriptions.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81818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81818"/>
                </a:solidFill>
                <a:latin typeface="Arial"/>
                <a:ea typeface="Arial"/>
                <a:cs typeface="Arial"/>
              </a:rPr>
              <a:t>Follow the alternating image and text format.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81818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81818"/>
                </a:solidFill>
                <a:latin typeface="Arial"/>
                <a:ea typeface="Arial"/>
                <a:cs typeface="Arial"/>
              </a:rPr>
              <a:t>Needed: projects to feature, images and approved captions.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DF0BBC1-77EC-4EE7-B6D8-6A9F4DDC9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15000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6B6B6B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6B6B6B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6B6B6B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6B6B6B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6B6B6B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6B6B6B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6B6B6B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6B6B6B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6B6B6B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6B6B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6B6B6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B6B6B"/>
                </a:solidFill>
                <a:latin typeface="Arial"/>
                <a:ea typeface="Arial"/>
                <a:cs typeface="Arial"/>
              </a:rPr>
              <a:t>William’s comments: projects to feature and image permissions</a:t>
            </a:r>
          </a:p>
        </p:txBody>
      </p:sp>
    </p:spTree>
    <p:extLst>
      <p:ext uri="{BB962C8B-B14F-4D97-AF65-F5344CB8AC3E}">
        <p14:creationId xmlns:p14="http://schemas.microsoft.com/office/powerpoint/2010/main" val="207942770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A332DE-C299-489A-9E5B-A42A35E46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61950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181818"/>
                </a:solidFill>
                <a:latin typeface="Arial"/>
                <a:ea typeface="Arial"/>
                <a:cs typeface="Arial"/>
              </a:defRPr>
            </a:defPPr>
            <a:lvl1pPr>
              <a:defRPr sz="3225" b="1">
                <a:solidFill>
                  <a:srgbClr val="181818"/>
                </a:solidFill>
                <a:latin typeface="Arial"/>
                <a:ea typeface="Arial"/>
                <a:cs typeface="Arial"/>
              </a:defRPr>
            </a:lvl1pPr>
            <a:lvl2pPr>
              <a:defRPr sz="3225" b="1">
                <a:solidFill>
                  <a:srgbClr val="181818"/>
                </a:solidFill>
                <a:latin typeface="Arial"/>
                <a:ea typeface="Arial"/>
                <a:cs typeface="Arial"/>
              </a:defRPr>
            </a:lvl2pPr>
            <a:lvl3pPr>
              <a:defRPr sz="3225" b="1">
                <a:solidFill>
                  <a:srgbClr val="181818"/>
                </a:solidFill>
                <a:latin typeface="Arial"/>
                <a:ea typeface="Arial"/>
                <a:cs typeface="Arial"/>
              </a:defRPr>
            </a:lvl3pPr>
            <a:lvl4pPr>
              <a:defRPr sz="3225" b="1">
                <a:solidFill>
                  <a:srgbClr val="181818"/>
                </a:solidFill>
                <a:latin typeface="Arial"/>
                <a:ea typeface="Arial"/>
                <a:cs typeface="Arial"/>
              </a:defRPr>
            </a:lvl4pPr>
            <a:lvl5pPr>
              <a:defRPr sz="3225" b="1">
                <a:solidFill>
                  <a:srgbClr val="181818"/>
                </a:solidFill>
                <a:latin typeface="Arial"/>
                <a:ea typeface="Arial"/>
                <a:cs typeface="Arial"/>
              </a:defRPr>
            </a:lvl5pPr>
            <a:lvl6pPr>
              <a:defRPr sz="3225" b="1">
                <a:solidFill>
                  <a:srgbClr val="181818"/>
                </a:solidFill>
                <a:latin typeface="Arial"/>
                <a:ea typeface="Arial"/>
                <a:cs typeface="Arial"/>
              </a:defRPr>
            </a:lvl6pPr>
            <a:lvl7pPr>
              <a:defRPr sz="3225" b="1">
                <a:solidFill>
                  <a:srgbClr val="181818"/>
                </a:solidFill>
                <a:latin typeface="Arial"/>
                <a:ea typeface="Arial"/>
                <a:cs typeface="Arial"/>
              </a:defRPr>
            </a:lvl7pPr>
            <a:lvl8pPr>
              <a:defRPr sz="3225" b="1">
                <a:solidFill>
                  <a:srgbClr val="181818"/>
                </a:solidFill>
                <a:latin typeface="Arial"/>
                <a:ea typeface="Arial"/>
                <a:cs typeface="Arial"/>
              </a:defRPr>
            </a:lvl8pPr>
            <a:lvl9pPr>
              <a:defRPr sz="3225" b="1">
                <a:solidFill>
                  <a:srgbClr val="18181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81818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81818"/>
                </a:solidFill>
                <a:latin typeface="Arial"/>
                <a:ea typeface="Arial"/>
                <a:cs typeface="Arial"/>
              </a:rPr>
              <a:t>06  Guarantee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02E75C-0144-4BA0-B2D6-CFF7ABC48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96050"/>
            <a:ext cx="885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CASEN DOORS   Kitchen page review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13B641-96E7-4BD1-A802-DE1854A1E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D1FC77-1AC8-4435-BE20-2D95C4F89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14475"/>
            <a:ext cx="6572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125" b="1">
                <a:solidFill>
                  <a:srgbClr val="181818"/>
                </a:solidFill>
                <a:latin typeface="Arial"/>
                <a:ea typeface="Arial"/>
                <a:cs typeface="Arial"/>
              </a:defRPr>
            </a:defPPr>
            <a:lvl1pPr>
              <a:defRPr sz="4125" b="1">
                <a:solidFill>
                  <a:srgbClr val="181818"/>
                </a:solidFill>
                <a:latin typeface="Arial"/>
                <a:ea typeface="Arial"/>
                <a:cs typeface="Arial"/>
              </a:defRPr>
            </a:lvl1pPr>
            <a:lvl2pPr>
              <a:defRPr sz="4125" b="1">
                <a:solidFill>
                  <a:srgbClr val="181818"/>
                </a:solidFill>
                <a:latin typeface="Arial"/>
                <a:ea typeface="Arial"/>
                <a:cs typeface="Arial"/>
              </a:defRPr>
            </a:lvl2pPr>
            <a:lvl3pPr>
              <a:defRPr sz="4125" b="1">
                <a:solidFill>
                  <a:srgbClr val="181818"/>
                </a:solidFill>
                <a:latin typeface="Arial"/>
                <a:ea typeface="Arial"/>
                <a:cs typeface="Arial"/>
              </a:defRPr>
            </a:lvl3pPr>
            <a:lvl4pPr>
              <a:defRPr sz="4125" b="1">
                <a:solidFill>
                  <a:srgbClr val="181818"/>
                </a:solidFill>
                <a:latin typeface="Arial"/>
                <a:ea typeface="Arial"/>
                <a:cs typeface="Arial"/>
              </a:defRPr>
            </a:lvl4pPr>
            <a:lvl5pPr>
              <a:defRPr sz="4125" b="1">
                <a:solidFill>
                  <a:srgbClr val="181818"/>
                </a:solidFill>
                <a:latin typeface="Arial"/>
                <a:ea typeface="Arial"/>
                <a:cs typeface="Arial"/>
              </a:defRPr>
            </a:lvl5pPr>
            <a:lvl6pPr>
              <a:defRPr sz="4125" b="1">
                <a:solidFill>
                  <a:srgbClr val="181818"/>
                </a:solidFill>
                <a:latin typeface="Arial"/>
                <a:ea typeface="Arial"/>
                <a:cs typeface="Arial"/>
              </a:defRPr>
            </a:lvl6pPr>
            <a:lvl7pPr>
              <a:defRPr sz="4125" b="1">
                <a:solidFill>
                  <a:srgbClr val="181818"/>
                </a:solidFill>
                <a:latin typeface="Arial"/>
                <a:ea typeface="Arial"/>
                <a:cs typeface="Arial"/>
              </a:defRPr>
            </a:lvl7pPr>
            <a:lvl8pPr>
              <a:defRPr sz="4125" b="1">
                <a:solidFill>
                  <a:srgbClr val="181818"/>
                </a:solidFill>
                <a:latin typeface="Arial"/>
                <a:ea typeface="Arial"/>
                <a:cs typeface="Arial"/>
              </a:defRPr>
            </a:lvl8pPr>
            <a:lvl9pPr>
              <a:defRPr sz="4125" b="1">
                <a:solidFill>
                  <a:srgbClr val="18181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4125" b="1">
                <a:solidFill>
                  <a:srgbClr val="181818"/>
                </a:solidFill>
                <a:latin typeface="Arial"/>
                <a:ea typeface="Arial"/>
                <a:cs typeface="Arial"/>
              </a:defRPr>
            </a:pPr>
            <a:r>
              <a:rPr sz="4125" b="1">
                <a:solidFill>
                  <a:srgbClr val="181818"/>
                </a:solidFill>
                <a:latin typeface="Arial"/>
                <a:ea typeface="Arial"/>
                <a:cs typeface="Arial"/>
              </a:rPr>
              <a:t>10-year guarantee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E0F44F-5FE8-4EB0-8D3E-F64E5C535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571750"/>
            <a:ext cx="68103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81818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181818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181818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181818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181818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181818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181818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181818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181818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18181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81818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1818"/>
                </a:solidFill>
                <a:latin typeface="Arial"/>
                <a:ea typeface="Arial"/>
                <a:cs typeface="Arial"/>
              </a:rPr>
              <a:t>Proposed heading from the meeting. Kitchen coverage and wording require confirmation.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A6B0A19-3E94-400F-89C2-AA12522D2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175" y="1409700"/>
            <a:ext cx="3714750" cy="3381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81818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181818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181818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181818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181818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181818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181818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181818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181818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18181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8181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81818"/>
                </a:solidFill>
                <a:latin typeface="Arial"/>
                <a:ea typeface="Arial"/>
                <a:cs typeface="Arial"/>
              </a:rPr>
              <a:t>Needed from William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18181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81818"/>
                </a:solidFill>
                <a:latin typeface="Arial"/>
                <a:ea typeface="Arial"/>
                <a:cs typeface="Arial"/>
              </a:rPr>
              <a:t>Approved kitchen guarantee terms</a:t>
            </a:r>
          </a:p>
          <a:p xmlns:a="http://schemas.openxmlformats.org/drawingml/2006/main">
            <a:pPr>
              <a:defRPr sz="1875" b="0">
                <a:solidFill>
                  <a:srgbClr val="18181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81818"/>
                </a:solidFill>
                <a:latin typeface="Arial"/>
                <a:ea typeface="Arial"/>
                <a:cs typeface="Arial"/>
              </a:rPr>
              <a:t>Functionality guarantee wording</a:t>
            </a:r>
          </a:p>
          <a:p xmlns:a="http://schemas.openxmlformats.org/drawingml/2006/main">
            <a:pPr>
              <a:defRPr sz="1875" b="0">
                <a:solidFill>
                  <a:srgbClr val="18181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81818"/>
                </a:solidFill>
                <a:latin typeface="Arial"/>
                <a:ea typeface="Arial"/>
                <a:cs typeface="Arial"/>
              </a:rPr>
              <a:t>Downloadable document</a:t>
            </a:r>
          </a:p>
          <a:p xmlns:a="http://schemas.openxmlformats.org/drawingml/2006/main">
            <a:pPr>
              <a:defRPr sz="1875" b="0">
                <a:solidFill>
                  <a:srgbClr val="18181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81818"/>
                </a:solidFill>
                <a:latin typeface="Arial"/>
                <a:ea typeface="Arial"/>
                <a:cs typeface="Arial"/>
              </a:rPr>
              <a:t>Link label and contact details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73FD99A-4BEE-4589-B724-5EB95DD1A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15000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6B6B6B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6B6B6B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6B6B6B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6B6B6B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6B6B6B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6B6B6B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6B6B6B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6B6B6B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6B6B6B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6B6B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6B6B6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B6B6B"/>
                </a:solidFill>
                <a:latin typeface="Arial"/>
                <a:ea typeface="Arial"/>
                <a:cs typeface="Arial"/>
              </a:rPr>
              <a:t>William’s comments: coverage, exclusions and linked document</a:t>
            </a:r>
          </a:p>
        </p:txBody>
      </p:sp>
    </p:spTree>
    <p:extLst>
      <p:ext uri="{BB962C8B-B14F-4D97-AF65-F5344CB8AC3E}">
        <p14:creationId xmlns:p14="http://schemas.microsoft.com/office/powerpoint/2010/main" val="46895678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539BD8-6C2C-4EF3-9EC9-C7C90741C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61950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181818"/>
                </a:solidFill>
                <a:latin typeface="Arial"/>
                <a:ea typeface="Arial"/>
                <a:cs typeface="Arial"/>
              </a:defRPr>
            </a:defPPr>
            <a:lvl1pPr>
              <a:defRPr sz="3225" b="1">
                <a:solidFill>
                  <a:srgbClr val="181818"/>
                </a:solidFill>
                <a:latin typeface="Arial"/>
                <a:ea typeface="Arial"/>
                <a:cs typeface="Arial"/>
              </a:defRPr>
            </a:lvl1pPr>
            <a:lvl2pPr>
              <a:defRPr sz="3225" b="1">
                <a:solidFill>
                  <a:srgbClr val="181818"/>
                </a:solidFill>
                <a:latin typeface="Arial"/>
                <a:ea typeface="Arial"/>
                <a:cs typeface="Arial"/>
              </a:defRPr>
            </a:lvl2pPr>
            <a:lvl3pPr>
              <a:defRPr sz="3225" b="1">
                <a:solidFill>
                  <a:srgbClr val="181818"/>
                </a:solidFill>
                <a:latin typeface="Arial"/>
                <a:ea typeface="Arial"/>
                <a:cs typeface="Arial"/>
              </a:defRPr>
            </a:lvl3pPr>
            <a:lvl4pPr>
              <a:defRPr sz="3225" b="1">
                <a:solidFill>
                  <a:srgbClr val="181818"/>
                </a:solidFill>
                <a:latin typeface="Arial"/>
                <a:ea typeface="Arial"/>
                <a:cs typeface="Arial"/>
              </a:defRPr>
            </a:lvl4pPr>
            <a:lvl5pPr>
              <a:defRPr sz="3225" b="1">
                <a:solidFill>
                  <a:srgbClr val="181818"/>
                </a:solidFill>
                <a:latin typeface="Arial"/>
                <a:ea typeface="Arial"/>
                <a:cs typeface="Arial"/>
              </a:defRPr>
            </a:lvl5pPr>
            <a:lvl6pPr>
              <a:defRPr sz="3225" b="1">
                <a:solidFill>
                  <a:srgbClr val="181818"/>
                </a:solidFill>
                <a:latin typeface="Arial"/>
                <a:ea typeface="Arial"/>
                <a:cs typeface="Arial"/>
              </a:defRPr>
            </a:lvl6pPr>
            <a:lvl7pPr>
              <a:defRPr sz="3225" b="1">
                <a:solidFill>
                  <a:srgbClr val="181818"/>
                </a:solidFill>
                <a:latin typeface="Arial"/>
                <a:ea typeface="Arial"/>
                <a:cs typeface="Arial"/>
              </a:defRPr>
            </a:lvl7pPr>
            <a:lvl8pPr>
              <a:defRPr sz="3225" b="1">
                <a:solidFill>
                  <a:srgbClr val="181818"/>
                </a:solidFill>
                <a:latin typeface="Arial"/>
                <a:ea typeface="Arial"/>
                <a:cs typeface="Arial"/>
              </a:defRPr>
            </a:lvl8pPr>
            <a:lvl9pPr>
              <a:defRPr sz="3225" b="1">
                <a:solidFill>
                  <a:srgbClr val="18181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81818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81818"/>
                </a:solidFill>
                <a:latin typeface="Arial"/>
                <a:ea typeface="Arial"/>
                <a:cs typeface="Arial"/>
              </a:rPr>
              <a:t>07  Frequently asked questions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5CDB6D-7C34-4F42-974F-A9AFBF93D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96050"/>
            <a:ext cx="885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CASEN DOORS   Kitchen page review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6014F4-356E-485F-B662-1FFF2537E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D9EA7B-C2CD-4CEB-8DC8-222AAB34310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4c1df0454624dbc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95300" y="2108705"/>
            <a:ext cx="7067550" cy="208814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984032-1333-409C-A28E-77536E07B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238750"/>
            <a:ext cx="7067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686868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686868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686868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686868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686868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686868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686868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686868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686868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68686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8686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86868"/>
                </a:solidFill>
                <a:latin typeface="Arial"/>
                <a:ea typeface="Arial"/>
                <a:cs typeface="Arial"/>
              </a:rPr>
              <a:t>Existing door page: expandable FAQ rows.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5591AAA-E2CF-40D3-9CE6-8880EDA2D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1200150"/>
            <a:ext cx="3714750" cy="417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181818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181818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181818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181818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181818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181818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181818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181818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181818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18181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181818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81818"/>
                </a:solidFill>
                <a:latin typeface="Arial"/>
                <a:ea typeface="Arial"/>
                <a:cs typeface="Arial"/>
              </a:rPr>
              <a:t>Use the same accordion format as the door page.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00" b="0">
                <a:solidFill>
                  <a:srgbClr val="181818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81818"/>
                </a:solidFill>
                <a:latin typeface="Arial"/>
                <a:ea typeface="Arial"/>
                <a:cs typeface="Arial"/>
              </a:rPr>
              <a:t>Needed: kitchen questions and approved answers.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00" b="0">
                <a:solidFill>
                  <a:srgbClr val="181818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81818"/>
                </a:solidFill>
                <a:latin typeface="Arial"/>
                <a:ea typeface="Arial"/>
                <a:cs typeface="Arial"/>
              </a:rPr>
              <a:t>Suggested topics: ordering, quotation confirmation, delivery, installation and care.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B3EAEDD-1310-4EB4-BCB2-BB9CB1D5A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15000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6B6B6B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6B6B6B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6B6B6B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6B6B6B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6B6B6B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6B6B6B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6B6B6B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6B6B6B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6B6B6B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6B6B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6B6B6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B6B6B"/>
                </a:solidFill>
                <a:latin typeface="Arial"/>
                <a:ea typeface="Arial"/>
                <a:cs typeface="Arial"/>
              </a:rPr>
              <a:t>William’s comments: FAQ topics, answers and order</a:t>
            </a:r>
          </a:p>
        </p:txBody>
      </p:sp>
    </p:spTree>
    <p:extLst>
      <p:ext uri="{BB962C8B-B14F-4D97-AF65-F5344CB8AC3E}">
        <p14:creationId xmlns:p14="http://schemas.microsoft.com/office/powerpoint/2010/main" val="78858409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55A9A7-74E5-41C0-8980-42021BC56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61950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181818"/>
                </a:solidFill>
                <a:latin typeface="Arial"/>
                <a:ea typeface="Arial"/>
                <a:cs typeface="Arial"/>
              </a:defRPr>
            </a:defPPr>
            <a:lvl1pPr>
              <a:defRPr sz="3225" b="1">
                <a:solidFill>
                  <a:srgbClr val="181818"/>
                </a:solidFill>
                <a:latin typeface="Arial"/>
                <a:ea typeface="Arial"/>
                <a:cs typeface="Arial"/>
              </a:defRPr>
            </a:lvl1pPr>
            <a:lvl2pPr>
              <a:defRPr sz="3225" b="1">
                <a:solidFill>
                  <a:srgbClr val="181818"/>
                </a:solidFill>
                <a:latin typeface="Arial"/>
                <a:ea typeface="Arial"/>
                <a:cs typeface="Arial"/>
              </a:defRPr>
            </a:lvl2pPr>
            <a:lvl3pPr>
              <a:defRPr sz="3225" b="1">
                <a:solidFill>
                  <a:srgbClr val="181818"/>
                </a:solidFill>
                <a:latin typeface="Arial"/>
                <a:ea typeface="Arial"/>
                <a:cs typeface="Arial"/>
              </a:defRPr>
            </a:lvl3pPr>
            <a:lvl4pPr>
              <a:defRPr sz="3225" b="1">
                <a:solidFill>
                  <a:srgbClr val="181818"/>
                </a:solidFill>
                <a:latin typeface="Arial"/>
                <a:ea typeface="Arial"/>
                <a:cs typeface="Arial"/>
              </a:defRPr>
            </a:lvl4pPr>
            <a:lvl5pPr>
              <a:defRPr sz="3225" b="1">
                <a:solidFill>
                  <a:srgbClr val="181818"/>
                </a:solidFill>
                <a:latin typeface="Arial"/>
                <a:ea typeface="Arial"/>
                <a:cs typeface="Arial"/>
              </a:defRPr>
            </a:lvl5pPr>
            <a:lvl6pPr>
              <a:defRPr sz="3225" b="1">
                <a:solidFill>
                  <a:srgbClr val="181818"/>
                </a:solidFill>
                <a:latin typeface="Arial"/>
                <a:ea typeface="Arial"/>
                <a:cs typeface="Arial"/>
              </a:defRPr>
            </a:lvl6pPr>
            <a:lvl7pPr>
              <a:defRPr sz="3225" b="1">
                <a:solidFill>
                  <a:srgbClr val="181818"/>
                </a:solidFill>
                <a:latin typeface="Arial"/>
                <a:ea typeface="Arial"/>
                <a:cs typeface="Arial"/>
              </a:defRPr>
            </a:lvl7pPr>
            <a:lvl8pPr>
              <a:defRPr sz="3225" b="1">
                <a:solidFill>
                  <a:srgbClr val="181818"/>
                </a:solidFill>
                <a:latin typeface="Arial"/>
                <a:ea typeface="Arial"/>
                <a:cs typeface="Arial"/>
              </a:defRPr>
            </a:lvl8pPr>
            <a:lvl9pPr>
              <a:defRPr sz="3225" b="1">
                <a:solidFill>
                  <a:srgbClr val="18181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81818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81818"/>
                </a:solidFill>
                <a:latin typeface="Arial"/>
                <a:ea typeface="Arial"/>
                <a:cs typeface="Arial"/>
              </a:rPr>
              <a:t>08  Google Reviews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E0CF5C-0DAF-4650-9F55-3A45BD88A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96050"/>
            <a:ext cx="885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CASEN DOORS   Kitchen page review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C1939A-20AB-46D4-8F48-5FA5BAFB1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287C23-C721-4A1B-83E2-F1AAB1E04BF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d0f94c61be445ed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95300" y="2081056"/>
            <a:ext cx="7067550" cy="2143437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92FB967-F5A7-4105-B92A-E89FBC56A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238750"/>
            <a:ext cx="7067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686868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686868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686868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686868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686868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686868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686868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686868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686868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68686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8686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86868"/>
                </a:solidFill>
                <a:latin typeface="Arial"/>
                <a:ea typeface="Arial"/>
                <a:cs typeface="Arial"/>
              </a:rPr>
              <a:t>Existing Shopify reviews widget. Displayed reviews concern the current store.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7BA247F-C6A2-432F-8CBC-7F0263C96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1200150"/>
            <a:ext cx="3714750" cy="417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181818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181818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181818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181818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181818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181818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181818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181818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181818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18181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181818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81818"/>
                </a:solidFill>
                <a:latin typeface="Arial"/>
                <a:ea typeface="Arial"/>
                <a:cs typeface="Arial"/>
              </a:rPr>
              <a:t>Reuse the existing Shopify plugin where compatible.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00" b="0">
                <a:solidFill>
                  <a:srgbClr val="181818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81818"/>
                </a:solidFill>
                <a:latin typeface="Arial"/>
                <a:ea typeface="Arial"/>
                <a:cs typeface="Arial"/>
              </a:rPr>
              <a:t>Confirm which reviews should appear on the kitchen page.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00" b="0">
                <a:solidFill>
                  <a:srgbClr val="181818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81818"/>
                </a:solidFill>
                <a:latin typeface="Arial"/>
                <a:ea typeface="Arial"/>
                <a:cs typeface="Arial"/>
              </a:rPr>
              <a:t>Keep the live rating and review content managed by the plugin.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CE0EF4F-3D25-4DEA-B9AD-05BFC5E49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15000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6B6B6B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6B6B6B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6B6B6B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6B6B6B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6B6B6B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6B6B6B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6B6B6B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6B6B6B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6B6B6B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6B6B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6B6B6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B6B6B"/>
                </a:solidFill>
                <a:latin typeface="Arial"/>
                <a:ea typeface="Arial"/>
                <a:cs typeface="Arial"/>
              </a:rPr>
              <a:t>William’s comments: store-wide reviews or kitchen-specific reviews</a:t>
            </a:r>
          </a:p>
        </p:txBody>
      </p:sp>
    </p:spTree>
    <p:extLst>
      <p:ext uri="{BB962C8B-B14F-4D97-AF65-F5344CB8AC3E}">
        <p14:creationId xmlns:p14="http://schemas.microsoft.com/office/powerpoint/2010/main" val="8745456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8D69FF-1D5D-4A37-81E8-7010B357D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61950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181818"/>
                </a:solidFill>
                <a:latin typeface="Arial"/>
                <a:ea typeface="Arial"/>
                <a:cs typeface="Arial"/>
              </a:defRPr>
            </a:defPPr>
            <a:lvl1pPr>
              <a:defRPr sz="3225" b="1">
                <a:solidFill>
                  <a:srgbClr val="181818"/>
                </a:solidFill>
                <a:latin typeface="Arial"/>
                <a:ea typeface="Arial"/>
                <a:cs typeface="Arial"/>
              </a:defRPr>
            </a:lvl1pPr>
            <a:lvl2pPr>
              <a:defRPr sz="3225" b="1">
                <a:solidFill>
                  <a:srgbClr val="181818"/>
                </a:solidFill>
                <a:latin typeface="Arial"/>
                <a:ea typeface="Arial"/>
                <a:cs typeface="Arial"/>
              </a:defRPr>
            </a:lvl2pPr>
            <a:lvl3pPr>
              <a:defRPr sz="3225" b="1">
                <a:solidFill>
                  <a:srgbClr val="181818"/>
                </a:solidFill>
                <a:latin typeface="Arial"/>
                <a:ea typeface="Arial"/>
                <a:cs typeface="Arial"/>
              </a:defRPr>
            </a:lvl3pPr>
            <a:lvl4pPr>
              <a:defRPr sz="3225" b="1">
                <a:solidFill>
                  <a:srgbClr val="181818"/>
                </a:solidFill>
                <a:latin typeface="Arial"/>
                <a:ea typeface="Arial"/>
                <a:cs typeface="Arial"/>
              </a:defRPr>
            </a:lvl4pPr>
            <a:lvl5pPr>
              <a:defRPr sz="3225" b="1">
                <a:solidFill>
                  <a:srgbClr val="181818"/>
                </a:solidFill>
                <a:latin typeface="Arial"/>
                <a:ea typeface="Arial"/>
                <a:cs typeface="Arial"/>
              </a:defRPr>
            </a:lvl5pPr>
            <a:lvl6pPr>
              <a:defRPr sz="3225" b="1">
                <a:solidFill>
                  <a:srgbClr val="181818"/>
                </a:solidFill>
                <a:latin typeface="Arial"/>
                <a:ea typeface="Arial"/>
                <a:cs typeface="Arial"/>
              </a:defRPr>
            </a:lvl6pPr>
            <a:lvl7pPr>
              <a:defRPr sz="3225" b="1">
                <a:solidFill>
                  <a:srgbClr val="181818"/>
                </a:solidFill>
                <a:latin typeface="Arial"/>
                <a:ea typeface="Arial"/>
                <a:cs typeface="Arial"/>
              </a:defRPr>
            </a:lvl7pPr>
            <a:lvl8pPr>
              <a:defRPr sz="3225" b="1">
                <a:solidFill>
                  <a:srgbClr val="181818"/>
                </a:solidFill>
                <a:latin typeface="Arial"/>
                <a:ea typeface="Arial"/>
                <a:cs typeface="Arial"/>
              </a:defRPr>
            </a:lvl8pPr>
            <a:lvl9pPr>
              <a:defRPr sz="3225" b="1">
                <a:solidFill>
                  <a:srgbClr val="18181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81818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81818"/>
                </a:solidFill>
                <a:latin typeface="Arial"/>
                <a:ea typeface="Arial"/>
                <a:cs typeface="Arial"/>
              </a:rPr>
              <a:t>09–10  Related products and footer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F86282-939A-43A1-A5C1-13C63D8B9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96050"/>
            <a:ext cx="885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CASEN DOORS   Kitchen page review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6DDEE0-58B3-426F-BE97-A226B4F68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73F0FB-46A2-4475-AF11-F4D570C7186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6de88545a2b4133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318405" y="1162050"/>
            <a:ext cx="3421340" cy="398145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D7460B-760A-407D-8B2B-99D54CC3B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238750"/>
            <a:ext cx="7067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686868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686868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686868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686868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686868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686868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686868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686868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686868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68686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8686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86868"/>
                </a:solidFill>
                <a:latin typeface="Arial"/>
                <a:ea typeface="Arial"/>
                <a:cs typeface="Arial"/>
              </a:rPr>
              <a:t>Existing product recommendations and footer, shown at a narrower viewport.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F922E7-3807-4ABC-83D8-1A3C36A7A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1200150"/>
            <a:ext cx="3714750" cy="417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181818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181818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181818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181818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181818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181818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181818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181818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181818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18181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181818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81818"/>
                </a:solidFill>
                <a:latin typeface="Arial"/>
                <a:ea typeface="Arial"/>
                <a:cs typeface="Arial"/>
              </a:rPr>
              <a:t>You May Also Like: four products.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00" b="0">
                <a:solidFill>
                  <a:srgbClr val="181818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81818"/>
                </a:solidFill>
                <a:latin typeface="Arial"/>
                <a:ea typeface="Arial"/>
                <a:cs typeface="Arial"/>
              </a:rPr>
              <a:t>Needed: product links or the preferred recommendation rule.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00" b="0">
                <a:solidFill>
                  <a:srgbClr val="181818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81818"/>
                </a:solidFill>
                <a:latin typeface="Arial"/>
                <a:ea typeface="Arial"/>
                <a:cs typeface="Arial"/>
              </a:rPr>
              <a:t>Reuse the existing footer.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00" b="0">
                <a:solidFill>
                  <a:srgbClr val="181818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81818"/>
                </a:solidFill>
                <a:latin typeface="Arial"/>
                <a:ea typeface="Arial"/>
                <a:cs typeface="Arial"/>
              </a:rPr>
              <a:t>Add Kitchen to the main navigation.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0E4C530-C121-4D97-9F9C-91040716A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15000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6B6B6B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6B6B6B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6B6B6B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6B6B6B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6B6B6B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6B6B6B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6B6B6B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6B6B6B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6B6B6B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6B6B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6B6B6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B6B6B"/>
                </a:solidFill>
                <a:latin typeface="Arial"/>
                <a:ea typeface="Arial"/>
                <a:cs typeface="Arial"/>
              </a:rPr>
              <a:t>William’s comments: four products, navigation label and destination</a:t>
            </a:r>
          </a:p>
        </p:txBody>
      </p:sp>
    </p:spTree>
    <p:extLst>
      <p:ext uri="{BB962C8B-B14F-4D97-AF65-F5344CB8AC3E}">
        <p14:creationId xmlns:p14="http://schemas.microsoft.com/office/powerpoint/2010/main" val="72522598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E634BE-C7EA-4DE2-B888-F108FB41B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61950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181818"/>
                </a:solidFill>
                <a:latin typeface="Arial"/>
                <a:ea typeface="Arial"/>
                <a:cs typeface="Arial"/>
              </a:defRPr>
            </a:defPPr>
            <a:lvl1pPr>
              <a:defRPr sz="3225" b="1">
                <a:solidFill>
                  <a:srgbClr val="181818"/>
                </a:solidFill>
                <a:latin typeface="Arial"/>
                <a:ea typeface="Arial"/>
                <a:cs typeface="Arial"/>
              </a:defRPr>
            </a:lvl1pPr>
            <a:lvl2pPr>
              <a:defRPr sz="3225" b="1">
                <a:solidFill>
                  <a:srgbClr val="181818"/>
                </a:solidFill>
                <a:latin typeface="Arial"/>
                <a:ea typeface="Arial"/>
                <a:cs typeface="Arial"/>
              </a:defRPr>
            </a:lvl2pPr>
            <a:lvl3pPr>
              <a:defRPr sz="3225" b="1">
                <a:solidFill>
                  <a:srgbClr val="181818"/>
                </a:solidFill>
                <a:latin typeface="Arial"/>
                <a:ea typeface="Arial"/>
                <a:cs typeface="Arial"/>
              </a:defRPr>
            </a:lvl3pPr>
            <a:lvl4pPr>
              <a:defRPr sz="3225" b="1">
                <a:solidFill>
                  <a:srgbClr val="181818"/>
                </a:solidFill>
                <a:latin typeface="Arial"/>
                <a:ea typeface="Arial"/>
                <a:cs typeface="Arial"/>
              </a:defRPr>
            </a:lvl4pPr>
            <a:lvl5pPr>
              <a:defRPr sz="3225" b="1">
                <a:solidFill>
                  <a:srgbClr val="181818"/>
                </a:solidFill>
                <a:latin typeface="Arial"/>
                <a:ea typeface="Arial"/>
                <a:cs typeface="Arial"/>
              </a:defRPr>
            </a:lvl5pPr>
            <a:lvl6pPr>
              <a:defRPr sz="3225" b="1">
                <a:solidFill>
                  <a:srgbClr val="181818"/>
                </a:solidFill>
                <a:latin typeface="Arial"/>
                <a:ea typeface="Arial"/>
                <a:cs typeface="Arial"/>
              </a:defRPr>
            </a:lvl6pPr>
            <a:lvl7pPr>
              <a:defRPr sz="3225" b="1">
                <a:solidFill>
                  <a:srgbClr val="181818"/>
                </a:solidFill>
                <a:latin typeface="Arial"/>
                <a:ea typeface="Arial"/>
                <a:cs typeface="Arial"/>
              </a:defRPr>
            </a:lvl7pPr>
            <a:lvl8pPr>
              <a:defRPr sz="3225" b="1">
                <a:solidFill>
                  <a:srgbClr val="181818"/>
                </a:solidFill>
                <a:latin typeface="Arial"/>
                <a:ea typeface="Arial"/>
                <a:cs typeface="Arial"/>
              </a:defRPr>
            </a:lvl8pPr>
            <a:lvl9pPr>
              <a:defRPr sz="3225" b="1">
                <a:solidFill>
                  <a:srgbClr val="18181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81818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81818"/>
                </a:solidFill>
                <a:latin typeface="Arial"/>
                <a:ea typeface="Arial"/>
                <a:cs typeface="Arial"/>
              </a:rPr>
              <a:t>Optional  Order Process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FDF0B3-8E3E-4C40-9795-57E2DA68D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96050"/>
            <a:ext cx="885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CASEN DOORS   Kitchen page review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9D2783-D2A0-4CB8-A9D0-2D8B994F4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C33E9B-9F1D-4D84-AAED-2255097DB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14450"/>
            <a:ext cx="666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181818"/>
                </a:solidFill>
                <a:latin typeface="Arial"/>
                <a:ea typeface="Arial"/>
                <a:cs typeface="Arial"/>
              </a:defRPr>
            </a:defPPr>
            <a:lvl1pPr>
              <a:defRPr sz="2175" b="1">
                <a:solidFill>
                  <a:srgbClr val="181818"/>
                </a:solidFill>
                <a:latin typeface="Arial"/>
                <a:ea typeface="Arial"/>
                <a:cs typeface="Arial"/>
              </a:defRPr>
            </a:lvl1pPr>
            <a:lvl2pPr>
              <a:defRPr sz="2175" b="1">
                <a:solidFill>
                  <a:srgbClr val="181818"/>
                </a:solidFill>
                <a:latin typeface="Arial"/>
                <a:ea typeface="Arial"/>
                <a:cs typeface="Arial"/>
              </a:defRPr>
            </a:lvl2pPr>
            <a:lvl3pPr>
              <a:defRPr sz="2175" b="1">
                <a:solidFill>
                  <a:srgbClr val="181818"/>
                </a:solidFill>
                <a:latin typeface="Arial"/>
                <a:ea typeface="Arial"/>
                <a:cs typeface="Arial"/>
              </a:defRPr>
            </a:lvl3pPr>
            <a:lvl4pPr>
              <a:defRPr sz="2175" b="1">
                <a:solidFill>
                  <a:srgbClr val="181818"/>
                </a:solidFill>
                <a:latin typeface="Arial"/>
                <a:ea typeface="Arial"/>
                <a:cs typeface="Arial"/>
              </a:defRPr>
            </a:lvl4pPr>
            <a:lvl5pPr>
              <a:defRPr sz="2175" b="1">
                <a:solidFill>
                  <a:srgbClr val="181818"/>
                </a:solidFill>
                <a:latin typeface="Arial"/>
                <a:ea typeface="Arial"/>
                <a:cs typeface="Arial"/>
              </a:defRPr>
            </a:lvl5pPr>
            <a:lvl6pPr>
              <a:defRPr sz="2175" b="1">
                <a:solidFill>
                  <a:srgbClr val="181818"/>
                </a:solidFill>
                <a:latin typeface="Arial"/>
                <a:ea typeface="Arial"/>
                <a:cs typeface="Arial"/>
              </a:defRPr>
            </a:lvl6pPr>
            <a:lvl7pPr>
              <a:defRPr sz="2175" b="1">
                <a:solidFill>
                  <a:srgbClr val="181818"/>
                </a:solidFill>
                <a:latin typeface="Arial"/>
                <a:ea typeface="Arial"/>
                <a:cs typeface="Arial"/>
              </a:defRPr>
            </a:lvl7pPr>
            <a:lvl8pPr>
              <a:defRPr sz="2175" b="1">
                <a:solidFill>
                  <a:srgbClr val="181818"/>
                </a:solidFill>
                <a:latin typeface="Arial"/>
                <a:ea typeface="Arial"/>
                <a:cs typeface="Arial"/>
              </a:defRPr>
            </a:lvl8pPr>
            <a:lvl9pPr>
              <a:defRPr sz="2175" b="1">
                <a:solidFill>
                  <a:srgbClr val="18181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181818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81818"/>
                </a:solidFill>
                <a:latin typeface="Arial"/>
                <a:ea typeface="Arial"/>
                <a:cs typeface="Arial"/>
              </a:rPr>
              <a:t>Proposed steps for discussion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65FF4E-B69C-45F4-8CE4-CE54CFEE7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95500"/>
            <a:ext cx="723900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81818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181818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181818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181818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181818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181818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181818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181818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181818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18181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81818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81818"/>
                </a:solidFill>
                <a:latin typeface="Arial"/>
                <a:ea typeface="Arial"/>
                <a:cs typeface="Arial"/>
              </a:rPr>
              <a:t>1   Choose a kitchen configuration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81818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81818"/>
                </a:solidFill>
                <a:latin typeface="Arial"/>
                <a:ea typeface="Arial"/>
                <a:cs typeface="Arial"/>
              </a:rPr>
              <a:t>2   Open or download the provisional quotation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81818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81818"/>
                </a:solidFill>
                <a:latin typeface="Arial"/>
                <a:ea typeface="Arial"/>
                <a:cs typeface="Arial"/>
              </a:rPr>
              <a:t>3   Contact the team for confirmation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81818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81818"/>
                </a:solidFill>
                <a:latin typeface="Arial"/>
                <a:ea typeface="Arial"/>
                <a:cs typeface="Arial"/>
              </a:rPr>
              <a:t>4   Agree the next steps with Casen Doors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4238B23-6514-4A41-B190-88DAA6533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428750"/>
            <a:ext cx="3333750" cy="304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81818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181818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181818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181818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181818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181818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181818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181818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181818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18181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8181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81818"/>
                </a:solidFill>
                <a:latin typeface="Arial"/>
                <a:ea typeface="Arial"/>
                <a:cs typeface="Arial"/>
              </a:rPr>
              <a:t>Please confirm whether to include this section and where it should sit.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18181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81818"/>
                </a:solidFill>
                <a:latin typeface="Arial"/>
                <a:ea typeface="Arial"/>
                <a:cs typeface="Arial"/>
              </a:rPr>
              <a:t>William to provide the approved process and any lead-time wording.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1DFFF22-F293-4A68-87BB-0E623EBFB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15000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6B6B6B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6B6B6B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6B6B6B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6B6B6B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6B6B6B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6B6B6B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6B6B6B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6B6B6B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6B6B6B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6B6B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6B6B6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B6B6B"/>
                </a:solidFill>
                <a:latin typeface="Arial"/>
                <a:ea typeface="Arial"/>
                <a:cs typeface="Arial"/>
              </a:rPr>
              <a:t>William’s comments: include or omit, position and final process</a:t>
            </a:r>
          </a:p>
        </p:txBody>
      </p:sp>
    </p:spTree>
    <p:extLst>
      <p:ext uri="{BB962C8B-B14F-4D97-AF65-F5344CB8AC3E}">
        <p14:creationId xmlns:p14="http://schemas.microsoft.com/office/powerpoint/2010/main" val="45518961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E37D21-36D5-4D23-848D-1FEA3C8B6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61950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181818"/>
                </a:solidFill>
                <a:latin typeface="Arial"/>
                <a:ea typeface="Arial"/>
                <a:cs typeface="Arial"/>
              </a:defRPr>
            </a:defPPr>
            <a:lvl1pPr>
              <a:defRPr sz="3225" b="1">
                <a:solidFill>
                  <a:srgbClr val="181818"/>
                </a:solidFill>
                <a:latin typeface="Arial"/>
                <a:ea typeface="Arial"/>
                <a:cs typeface="Arial"/>
              </a:defRPr>
            </a:lvl1pPr>
            <a:lvl2pPr>
              <a:defRPr sz="3225" b="1">
                <a:solidFill>
                  <a:srgbClr val="181818"/>
                </a:solidFill>
                <a:latin typeface="Arial"/>
                <a:ea typeface="Arial"/>
                <a:cs typeface="Arial"/>
              </a:defRPr>
            </a:lvl2pPr>
            <a:lvl3pPr>
              <a:defRPr sz="3225" b="1">
                <a:solidFill>
                  <a:srgbClr val="181818"/>
                </a:solidFill>
                <a:latin typeface="Arial"/>
                <a:ea typeface="Arial"/>
                <a:cs typeface="Arial"/>
              </a:defRPr>
            </a:lvl3pPr>
            <a:lvl4pPr>
              <a:defRPr sz="3225" b="1">
                <a:solidFill>
                  <a:srgbClr val="181818"/>
                </a:solidFill>
                <a:latin typeface="Arial"/>
                <a:ea typeface="Arial"/>
                <a:cs typeface="Arial"/>
              </a:defRPr>
            </a:lvl4pPr>
            <a:lvl5pPr>
              <a:defRPr sz="3225" b="1">
                <a:solidFill>
                  <a:srgbClr val="181818"/>
                </a:solidFill>
                <a:latin typeface="Arial"/>
                <a:ea typeface="Arial"/>
                <a:cs typeface="Arial"/>
              </a:defRPr>
            </a:lvl5pPr>
            <a:lvl6pPr>
              <a:defRPr sz="3225" b="1">
                <a:solidFill>
                  <a:srgbClr val="181818"/>
                </a:solidFill>
                <a:latin typeface="Arial"/>
                <a:ea typeface="Arial"/>
                <a:cs typeface="Arial"/>
              </a:defRPr>
            </a:lvl6pPr>
            <a:lvl7pPr>
              <a:defRPr sz="3225" b="1">
                <a:solidFill>
                  <a:srgbClr val="181818"/>
                </a:solidFill>
                <a:latin typeface="Arial"/>
                <a:ea typeface="Arial"/>
                <a:cs typeface="Arial"/>
              </a:defRPr>
            </a:lvl7pPr>
            <a:lvl8pPr>
              <a:defRPr sz="3225" b="1">
                <a:solidFill>
                  <a:srgbClr val="181818"/>
                </a:solidFill>
                <a:latin typeface="Arial"/>
                <a:ea typeface="Arial"/>
                <a:cs typeface="Arial"/>
              </a:defRPr>
            </a:lvl8pPr>
            <a:lvl9pPr>
              <a:defRPr sz="3225" b="1">
                <a:solidFill>
                  <a:srgbClr val="18181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81818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81818"/>
                </a:solidFill>
                <a:latin typeface="Arial"/>
                <a:ea typeface="Arial"/>
                <a:cs typeface="Arial"/>
              </a:rPr>
              <a:t>Catalogue and content management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2D9CF9-D433-4070-9A2C-ABCE24625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96050"/>
            <a:ext cx="885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CASEN DOORS   Kitchen page review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58AA56-AF06-4430-9C1C-04FF82904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B1731E-A698-42DD-9FF7-199050D38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81125"/>
            <a:ext cx="6477000" cy="2143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1">
                <a:solidFill>
                  <a:srgbClr val="181818"/>
                </a:solidFill>
                <a:latin typeface="Arial"/>
                <a:ea typeface="Arial"/>
                <a:cs typeface="Arial"/>
              </a:defRPr>
            </a:defPPr>
            <a:lvl1pPr>
              <a:defRPr sz="2325" b="1">
                <a:solidFill>
                  <a:srgbClr val="181818"/>
                </a:solidFill>
                <a:latin typeface="Arial"/>
                <a:ea typeface="Arial"/>
                <a:cs typeface="Arial"/>
              </a:defRPr>
            </a:lvl1pPr>
            <a:lvl2pPr>
              <a:defRPr sz="2325" b="1">
                <a:solidFill>
                  <a:srgbClr val="181818"/>
                </a:solidFill>
                <a:latin typeface="Arial"/>
                <a:ea typeface="Arial"/>
                <a:cs typeface="Arial"/>
              </a:defRPr>
            </a:lvl2pPr>
            <a:lvl3pPr>
              <a:defRPr sz="2325" b="1">
                <a:solidFill>
                  <a:srgbClr val="181818"/>
                </a:solidFill>
                <a:latin typeface="Arial"/>
                <a:ea typeface="Arial"/>
                <a:cs typeface="Arial"/>
              </a:defRPr>
            </a:lvl3pPr>
            <a:lvl4pPr>
              <a:defRPr sz="2325" b="1">
                <a:solidFill>
                  <a:srgbClr val="181818"/>
                </a:solidFill>
                <a:latin typeface="Arial"/>
                <a:ea typeface="Arial"/>
                <a:cs typeface="Arial"/>
              </a:defRPr>
            </a:lvl4pPr>
            <a:lvl5pPr>
              <a:defRPr sz="2325" b="1">
                <a:solidFill>
                  <a:srgbClr val="181818"/>
                </a:solidFill>
                <a:latin typeface="Arial"/>
                <a:ea typeface="Arial"/>
                <a:cs typeface="Arial"/>
              </a:defRPr>
            </a:lvl5pPr>
            <a:lvl6pPr>
              <a:defRPr sz="2325" b="1">
                <a:solidFill>
                  <a:srgbClr val="181818"/>
                </a:solidFill>
                <a:latin typeface="Arial"/>
                <a:ea typeface="Arial"/>
                <a:cs typeface="Arial"/>
              </a:defRPr>
            </a:lvl6pPr>
            <a:lvl7pPr>
              <a:defRPr sz="2325" b="1">
                <a:solidFill>
                  <a:srgbClr val="181818"/>
                </a:solidFill>
                <a:latin typeface="Arial"/>
                <a:ea typeface="Arial"/>
                <a:cs typeface="Arial"/>
              </a:defRPr>
            </a:lvl7pPr>
            <a:lvl8pPr>
              <a:defRPr sz="2325" b="1">
                <a:solidFill>
                  <a:srgbClr val="181818"/>
                </a:solidFill>
                <a:latin typeface="Arial"/>
                <a:ea typeface="Arial"/>
                <a:cs typeface="Arial"/>
              </a:defRPr>
            </a:lvl8pPr>
            <a:lvl9pPr>
              <a:defRPr sz="2325" b="1">
                <a:solidFill>
                  <a:srgbClr val="18181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81818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81818"/>
                </a:solidFill>
                <a:latin typeface="Arial"/>
                <a:ea typeface="Arial"/>
                <a:cs typeface="Arial"/>
              </a:rPr>
              <a:t>Four layouts</a:t>
            </a:r>
          </a:p>
          <a:p xmlns:a="http://schemas.openxmlformats.org/drawingml/2006/main">
            <a:pPr>
              <a:defRPr sz="2325" b="1">
                <a:solidFill>
                  <a:srgbClr val="181818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81818"/>
                </a:solidFill>
                <a:latin typeface="Arial"/>
                <a:ea typeface="Arial"/>
                <a:cs typeface="Arial"/>
              </a:rPr>
              <a:t>Three island choices, including no island</a:t>
            </a:r>
          </a:p>
          <a:p xmlns:a="http://schemas.openxmlformats.org/drawingml/2006/main">
            <a:pPr>
              <a:defRPr sz="2325" b="1">
                <a:solidFill>
                  <a:srgbClr val="181818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81818"/>
                </a:solidFill>
                <a:latin typeface="Arial"/>
                <a:ea typeface="Arial"/>
                <a:cs typeface="Arial"/>
              </a:rPr>
              <a:t>Four storage options</a:t>
            </a:r>
          </a:p>
          <a:p xmlns:a="http://schemas.openxmlformats.org/drawingml/2006/main">
            <a:pPr>
              <a:defRPr sz="2325" b="1">
                <a:solidFill>
                  <a:srgbClr val="181818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81818"/>
                </a:solidFill>
                <a:latin typeface="Arial"/>
                <a:ea typeface="Arial"/>
                <a:cs typeface="Arial"/>
              </a:rPr>
              <a:t>Four carcass options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FDF62E-F45C-412A-9730-83C26AF11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48125"/>
            <a:ext cx="666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81818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181818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181818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181818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181818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181818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181818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181818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181818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18181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81818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81818"/>
                </a:solidFill>
                <a:latin typeface="Arial"/>
                <a:ea typeface="Arial"/>
                <a:cs typeface="Arial"/>
              </a:rPr>
              <a:t>Please complete the companion input sheet with names, dimensions, prices, materials, images and incompatible combinations.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A6AB5BA-4864-49D0-BAD1-1F10027D1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1381125"/>
            <a:ext cx="361950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81818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181818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181818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181818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181818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181818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181818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181818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181818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18181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8181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81818"/>
                </a:solidFill>
                <a:latin typeface="Arial"/>
                <a:ea typeface="Arial"/>
                <a:cs typeface="Arial"/>
              </a:rPr>
              <a:t>Content should remain editable.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18181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81818"/>
                </a:solidFill>
                <a:latin typeface="Arial"/>
                <a:ea typeface="Arial"/>
                <a:cs typeface="Arial"/>
              </a:rPr>
              <a:t>The page, quotation PDF and email should use the same approved data.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18181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81818"/>
                </a:solidFill>
                <a:latin typeface="Arial"/>
                <a:ea typeface="Arial"/>
                <a:cs typeface="Arial"/>
              </a:rPr>
              <a:t>Shopify administration is the baseline. A separate admin interface needs confirmation after the store review.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C041979-1BC4-465B-80C7-F3411CAE5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15000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6B6B6B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6B6B6B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6B6B6B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6B6B6B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6B6B6B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6B6B6B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6B6B6B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6B6B6B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6B6B6B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6B6B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6B6B6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B6B6B"/>
                </a:solidFill>
                <a:latin typeface="Arial"/>
                <a:ea typeface="Arial"/>
                <a:cs typeface="Arial"/>
              </a:rPr>
              <a:t>William’s comments: selection rules and preferred administration workflow</a:t>
            </a:r>
          </a:p>
        </p:txBody>
      </p:sp>
    </p:spTree>
    <p:extLst>
      <p:ext uri="{BB962C8B-B14F-4D97-AF65-F5344CB8AC3E}">
        <p14:creationId xmlns:p14="http://schemas.microsoft.com/office/powerpoint/2010/main" val="1576587995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7BF686-5C6B-402D-9141-E6FC49CC1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61950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181818"/>
                </a:solidFill>
                <a:latin typeface="Arial"/>
                <a:ea typeface="Arial"/>
                <a:cs typeface="Arial"/>
              </a:defRPr>
            </a:defPPr>
            <a:lvl1pPr>
              <a:defRPr sz="3225" b="1">
                <a:solidFill>
                  <a:srgbClr val="181818"/>
                </a:solidFill>
                <a:latin typeface="Arial"/>
                <a:ea typeface="Arial"/>
                <a:cs typeface="Arial"/>
              </a:defRPr>
            </a:lvl1pPr>
            <a:lvl2pPr>
              <a:defRPr sz="3225" b="1">
                <a:solidFill>
                  <a:srgbClr val="181818"/>
                </a:solidFill>
                <a:latin typeface="Arial"/>
                <a:ea typeface="Arial"/>
                <a:cs typeface="Arial"/>
              </a:defRPr>
            </a:lvl2pPr>
            <a:lvl3pPr>
              <a:defRPr sz="3225" b="1">
                <a:solidFill>
                  <a:srgbClr val="181818"/>
                </a:solidFill>
                <a:latin typeface="Arial"/>
                <a:ea typeface="Arial"/>
                <a:cs typeface="Arial"/>
              </a:defRPr>
            </a:lvl3pPr>
            <a:lvl4pPr>
              <a:defRPr sz="3225" b="1">
                <a:solidFill>
                  <a:srgbClr val="181818"/>
                </a:solidFill>
                <a:latin typeface="Arial"/>
                <a:ea typeface="Arial"/>
                <a:cs typeface="Arial"/>
              </a:defRPr>
            </a:lvl4pPr>
            <a:lvl5pPr>
              <a:defRPr sz="3225" b="1">
                <a:solidFill>
                  <a:srgbClr val="181818"/>
                </a:solidFill>
                <a:latin typeface="Arial"/>
                <a:ea typeface="Arial"/>
                <a:cs typeface="Arial"/>
              </a:defRPr>
            </a:lvl5pPr>
            <a:lvl6pPr>
              <a:defRPr sz="3225" b="1">
                <a:solidFill>
                  <a:srgbClr val="181818"/>
                </a:solidFill>
                <a:latin typeface="Arial"/>
                <a:ea typeface="Arial"/>
                <a:cs typeface="Arial"/>
              </a:defRPr>
            </a:lvl6pPr>
            <a:lvl7pPr>
              <a:defRPr sz="3225" b="1">
                <a:solidFill>
                  <a:srgbClr val="181818"/>
                </a:solidFill>
                <a:latin typeface="Arial"/>
                <a:ea typeface="Arial"/>
                <a:cs typeface="Arial"/>
              </a:defRPr>
            </a:lvl7pPr>
            <a:lvl8pPr>
              <a:defRPr sz="3225" b="1">
                <a:solidFill>
                  <a:srgbClr val="181818"/>
                </a:solidFill>
                <a:latin typeface="Arial"/>
                <a:ea typeface="Arial"/>
                <a:cs typeface="Arial"/>
              </a:defRPr>
            </a:lvl8pPr>
            <a:lvl9pPr>
              <a:defRPr sz="3225" b="1">
                <a:solidFill>
                  <a:srgbClr val="18181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81818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81818"/>
                </a:solidFill>
                <a:latin typeface="Arial"/>
                <a:ea typeface="Arial"/>
                <a:cs typeface="Arial"/>
              </a:rPr>
              <a:t>Items to confirm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A56790-BAF0-4198-915F-2CE4242D8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96050"/>
            <a:ext cx="885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CASEN DOORS   Kitchen page review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C674F5-6860-4BC2-89BA-FE559E905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CDE3DA-7502-43C3-92A1-3203C70A3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71600"/>
            <a:ext cx="6524625" cy="3667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81818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181818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181818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181818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181818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181818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181818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181818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181818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18181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81818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1818"/>
                </a:solidFill>
                <a:latin typeface="Arial"/>
                <a:ea typeface="Arial"/>
                <a:cs typeface="Arial"/>
              </a:rPr>
              <a:t>Product title and exact door-page reference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181818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1818"/>
                </a:solidFill>
                <a:latin typeface="Arial"/>
                <a:ea typeface="Arial"/>
                <a:cs typeface="Arial"/>
              </a:rPr>
              <a:t>Final section order and Order Process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181818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1818"/>
                </a:solidFill>
                <a:latin typeface="Arial"/>
                <a:ea typeface="Arial"/>
                <a:cs typeface="Arial"/>
              </a:rPr>
              <a:t>Catalogue, prices and image delivery dates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181818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1818"/>
                </a:solidFill>
                <a:latin typeface="Arial"/>
                <a:ea typeface="Arial"/>
                <a:cs typeface="Arial"/>
              </a:rPr>
              <a:t>Quotation PDF sample and company email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F69707-3274-49E5-B6F8-5AB5391A3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400175"/>
            <a:ext cx="3667125" cy="333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81818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181818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181818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181818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181818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181818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181818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181818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181818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18181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81818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81818"/>
                </a:solidFill>
                <a:latin typeface="Arial"/>
                <a:ea typeface="Arial"/>
                <a:cs typeface="Arial"/>
              </a:rPr>
              <a:t>Delivery milestones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81818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81818"/>
                </a:solidFill>
                <a:latin typeface="Arial"/>
                <a:ea typeface="Arial"/>
                <a:cs typeface="Arial"/>
              </a:rPr>
              <a:t>Please confirm what is expected in mid-November and in mid-January.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81818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81818"/>
                </a:solidFill>
                <a:latin typeface="Arial"/>
                <a:ea typeface="Arial"/>
                <a:cs typeface="Arial"/>
              </a:rPr>
              <a:t>Bedroom page requirements need separate confirmation.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4DBC38-09CB-4A0A-AD69-BF2BD9DF8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15000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6B6B6B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6B6B6B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6B6B6B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6B6B6B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6B6B6B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6B6B6B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6B6B6B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6B6B6B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6B6B6B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6B6B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6B6B6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B6B6B"/>
                </a:solidFill>
                <a:latin typeface="Arial"/>
                <a:ea typeface="Arial"/>
                <a:cs typeface="Arial"/>
              </a:rPr>
              <a:t>William’s comments: decisions, owners and dates</a:t>
            </a:r>
          </a:p>
        </p:txBody>
      </p:sp>
    </p:spTree>
    <p:extLst>
      <p:ext uri="{BB962C8B-B14F-4D97-AF65-F5344CB8AC3E}">
        <p14:creationId xmlns:p14="http://schemas.microsoft.com/office/powerpoint/2010/main" val="41336518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2026-10-25T10:10:35.1840000Z</dcterms:created>
  <dcterms:modified xsi:type="dcterms:W3CDTF">2026-10-25T10:10:35.1840000Z</dcterms:modified>
</coreProperties>
</file>